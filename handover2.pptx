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3504" y="960120"/>
            <a:ext cx="10936224" cy="49651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1389888"/>
            <a:ext cx="758952" cy="6858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600200"/>
            <a:ext cx="91440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800" b="1" i="0">
                <a:solidFill>
                  <a:srgbClr val="008B8B"/>
                </a:solidFill>
                <a:latin typeface="Aptos"/>
              </a:rPr>
              <a:t>TECHNICAL HANDOVER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9875520" cy="11064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3100" b="1" i="0">
                <a:solidFill>
                  <a:srgbClr val="0D2039"/>
                </a:solidFill>
                <a:latin typeface="Aptos"/>
              </a:rPr>
              <a:t>JMeter performance testing
&amp; Claims FPV2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67912"/>
            <a:ext cx="4645152" cy="1170432"/>
          </a:xfrm>
          <a:prstGeom prst="roundRect">
            <a:avLst/>
          </a:prstGeom>
          <a:solidFill>
            <a:srgbClr val="EB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4069080"/>
            <a:ext cx="418795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600" b="1" i="0">
                <a:solidFill>
                  <a:srgbClr val="2566B2"/>
                </a:solidFill>
                <a:latin typeface="Aptos"/>
              </a:rPr>
              <a:t>01  PERFORMANCE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4416552"/>
            <a:ext cx="4187952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70" b="0" i="0">
                <a:solidFill>
                  <a:srgbClr val="212F40"/>
                </a:solidFill>
                <a:latin typeface="Aptos"/>
              </a:rPr>
              <a:t>Execution → CSV → Recap Generator → Reporting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88152" y="3867912"/>
            <a:ext cx="4645152" cy="1170432"/>
          </a:xfrm>
          <a:prstGeom prst="roundRect">
            <a:avLst/>
          </a:prstGeom>
          <a:solidFill>
            <a:srgbClr val="E6F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16752" y="4069080"/>
            <a:ext cx="4187952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600" b="1" i="0">
                <a:solidFill>
                  <a:srgbClr val="008B8B"/>
                </a:solidFill>
                <a:latin typeface="Aptos"/>
              </a:rPr>
              <a:t>02  CLAIMS FPV2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16752" y="4416552"/>
            <a:ext cx="4206240" cy="4480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70" b="0" i="0">
                <a:solidFill>
                  <a:srgbClr val="212F40"/>
                </a:solidFill>
                <a:latin typeface="Aptos"/>
              </a:rPr>
              <a:t>Reference architecture &amp; flow 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422392"/>
            <a:ext cx="46634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5B6D82"/>
                </a:solidFill>
                <a:latin typeface="Aptos"/>
              </a:rPr>
              <a:t>EIKO  •  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749808"/>
            <a:ext cx="10954512" cy="5376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749808"/>
            <a:ext cx="137160" cy="53766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4300" b="1" i="0">
                <a:solidFill>
                  <a:srgbClr val="008B8B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221992"/>
            <a:ext cx="3931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800" b="1" i="0">
                <a:solidFill>
                  <a:srgbClr val="2566B2"/>
                </a:solidFill>
                <a:latin typeface="Aptos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788920"/>
            <a:ext cx="987552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0D2039"/>
                </a:solidFill>
                <a:latin typeface="Aptos"/>
              </a:rPr>
              <a:t>Performance test execution
and reporting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453128"/>
            <a:ext cx="9326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0" i="0">
                <a:solidFill>
                  <a:srgbClr val="5B6D82"/>
                </a:solidFill>
                <a:latin typeface="Aptos"/>
              </a:rPr>
              <a:t>From JMeter startup to the final Confluence and SharePoint deliverables.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760720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900" b="0" i="0">
                <a:solidFill>
                  <a:srgbClr val="5B6D82"/>
                </a:solidFill>
                <a:latin typeface="Aptos"/>
              </a:rPr>
              <a:t>EIKO / TECHNICAL HANDOVER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End-to-end performance test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37360"/>
            <a:ext cx="1755648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1755648" cy="118872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" y="196596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50" b="1" i="0">
                <a:solidFill>
                  <a:srgbClr val="2566B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245973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1">
                <a:solidFill>
                  <a:srgbClr val="232B37"/>
                </a:solidFill>
                <a:latin typeface="Aptos"/>
              </a:rPr>
              <a:t>Prepare JMeter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300837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00">
                <a:solidFill>
                  <a:srgbClr val="232B37"/>
                </a:solidFill>
                <a:latin typeface="Aptos"/>
              </a:rPr>
              <a:t>Proxy + SSL cert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1311" y="2624328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Aptos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86584" y="1737360"/>
            <a:ext cx="1755648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86584" y="1737360"/>
            <a:ext cx="1755648" cy="118872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600" y="196596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50" b="1" i="0">
                <a:solidFill>
                  <a:srgbClr val="2566B2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45973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30" b="1" i="0">
                <a:solidFill>
                  <a:srgbClr val="0D2039"/>
                </a:solidFill>
                <a:latin typeface="Aptos"/>
              </a:rPr>
              <a:t>Run campaign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00837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0" i="0">
                <a:solidFill>
                  <a:srgbClr val="5B6D82"/>
                </a:solidFill>
                <a:latin typeface="Aptos"/>
              </a:rPr>
              <a:t>Warm-up + 5 scenarios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44975" y="2624328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Aptos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0248" y="1737360"/>
            <a:ext cx="1755648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70248" y="1737360"/>
            <a:ext cx="1755648" cy="118872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98264" y="196596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50" b="1" i="0">
                <a:solidFill>
                  <a:srgbClr val="2566B2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8264" y="245973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30" b="1" i="0">
                <a:solidFill>
                  <a:srgbClr val="0D2039"/>
                </a:solidFill>
                <a:latin typeface="Aptos"/>
              </a:rPr>
              <a:t>Collect 5 CSVs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98264" y="300837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0" i="0">
                <a:solidFill>
                  <a:srgbClr val="5B6D82"/>
                </a:solidFill>
                <a:latin typeface="Aptos"/>
              </a:rPr>
              <a:t>One per user 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8639" y="2624328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3912" y="1737360"/>
            <a:ext cx="1755648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53912" y="1737360"/>
            <a:ext cx="1755648" cy="1188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81927" y="196596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50" b="1" i="0">
                <a:solidFill>
                  <a:srgbClr val="008B8B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7" y="245973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30" b="1" i="0">
                <a:solidFill>
                  <a:srgbClr val="0D2039"/>
                </a:solidFill>
                <a:latin typeface="Aptos"/>
              </a:rPr>
              <a:t>Run generator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7" y="300837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0" i="0">
                <a:solidFill>
                  <a:srgbClr val="5B6D82"/>
                </a:solidFill>
                <a:latin typeface="Aptos"/>
              </a:rPr>
              <a:t>.env + main.py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303" y="2624328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Aptos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37576" y="1737360"/>
            <a:ext cx="1755648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37576" y="1737360"/>
            <a:ext cx="1755648" cy="1188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196596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50" b="1" i="0">
                <a:solidFill>
                  <a:srgbClr val="008B8B"/>
                </a:solidFill>
                <a:latin typeface="Aptos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245973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30" b="1" i="0">
                <a:solidFill>
                  <a:srgbClr val="0D2039"/>
                </a:solidFill>
                <a:latin typeface="Aptos"/>
              </a:rPr>
              <a:t>Review outputs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300837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0" i="0">
                <a:solidFill>
                  <a:srgbClr val="5B6D82"/>
                </a:solidFill>
                <a:latin typeface="Aptos"/>
              </a:rPr>
              <a:t>Excel + Word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95967" y="2624328"/>
            <a:ext cx="1371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2000" b="1" i="0">
                <a:solidFill>
                  <a:srgbClr val="008B8B"/>
                </a:solidFill>
                <a:latin typeface="Aptos"/>
              </a:rPr>
              <a:t>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921240" y="1737360"/>
            <a:ext cx="1755648" cy="191109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40" y="1737360"/>
            <a:ext cx="1755648" cy="1188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49256" y="1965960"/>
            <a:ext cx="1499616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50" b="1" i="0">
                <a:solidFill>
                  <a:srgbClr val="008B8B"/>
                </a:solidFill>
                <a:latin typeface="Aptos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9256" y="245973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30" b="1" i="0">
                <a:solidFill>
                  <a:srgbClr val="0D2039"/>
                </a:solidFill>
                <a:latin typeface="Aptos"/>
              </a:rPr>
              <a:t>Publish results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9256" y="3008376"/>
            <a:ext cx="151790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0" i="0">
                <a:solidFill>
                  <a:srgbClr val="5B6D82"/>
                </a:solidFill>
                <a:latin typeface="Aptos"/>
              </a:rPr>
              <a:t>SharePoint + Confluence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" y="4343400"/>
            <a:ext cx="10927080" cy="941832"/>
          </a:xfrm>
          <a:prstGeom prst="roundRect">
            <a:avLst/>
          </a:prstGeom>
          <a:solidFill>
            <a:srgbClr val="E6F7F5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" y="4471416"/>
            <a:ext cx="10616184" cy="7589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440" b="0" i="0">
                <a:solidFill>
                  <a:srgbClr val="212F40"/>
                </a:solidFill>
                <a:latin typeface="Aptos"/>
              </a:rPr>
              <a:t>Keep the five JMeter CSVs as source evidence. The generator creates a separate Excel workbook and Word report; both must be used to update the shared reporting locations.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JMETER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"/>
              </a:rPr>
              <a:t>Launching JMeter: proxy and SSL certificate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170432"/>
            <a:ext cx="4279392" cy="3621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170432"/>
            <a:ext cx="59436" cy="3621024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1325880"/>
            <a:ext cx="3913631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700" b="1">
                <a:solidFill>
                  <a:srgbClr val="0F233C"/>
                </a:solidFill>
                <a:latin typeface="Aptos"/>
              </a:rPr>
              <a:t>Execution steps — including SSL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3" y="1746504"/>
            <a:ext cx="3931920" cy="2980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>
                <a:solidFill>
                  <a:srgbClr val="0F233C"/>
                </a:solidFill>
                <a:latin typeface="Aptos"/>
              </a:rPr>
              <a:t>1  Launch JMeter using the existing .bat/.cmd file.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>
                <a:solidFill>
                  <a:srgbClr val="0F233C"/>
                </a:solidFill>
                <a:latin typeface="Aptos"/>
              </a:rPr>
              <a:t>2  Load ProxyUser.properties through the -q launch argument.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>
                <a:solidFill>
                  <a:srgbClr val="0F233C"/>
                </a:solidFill>
                <a:latin typeface="Aptos"/>
              </a:rPr>
              <a:t>3  Load the required SSL certificate in JMeter (SSL Manager or the configured keystore).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>
                <a:solidFill>
                  <a:srgbClr val="0F233C"/>
                </a:solidFill>
                <a:latin typeface="Aptos"/>
              </a:rPr>
              <a:t>4  Open the IDP .jmx test plan; check proxy settings and HTTPS connectivity.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sz="1350">
                <a:solidFill>
                  <a:srgbClr val="0F233C"/>
                </a:solidFill>
                <a:latin typeface="Aptos"/>
              </a:rPr>
              <a:t>5  Start the campaign only after the connection check.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48072" y="1170432"/>
            <a:ext cx="6345936" cy="2267712"/>
          </a:xfrm>
          <a:prstGeom prst="roundRect">
            <a:avLst/>
          </a:prstGeom>
          <a:solidFill>
            <a:srgbClr val="13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8384" y="1362456"/>
            <a:ext cx="576072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1" i="0">
                <a:solidFill>
                  <a:srgbClr val="83E1DD"/>
                </a:solidFill>
                <a:latin typeface="Aptos"/>
              </a:rPr>
              <a:t>LAUNCHER — COMMAND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58384" y="1865376"/>
            <a:ext cx="5760720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60" b="0" i="0">
                <a:solidFill>
                  <a:srgbClr val="FFFFFF"/>
                </a:solidFill>
                <a:latin typeface="Consolas"/>
              </a:rPr>
              <a:t>jmeter.bat -q "&lt;path&gt;/ProxyUser.properties"
# Then load the existing IDP .jmx test 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48072" y="3666744"/>
            <a:ext cx="6345936" cy="1097280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3767328"/>
            <a:ext cx="605332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400">
                <a:solidFill>
                  <a:srgbClr val="232B37"/>
                </a:solidFill>
                <a:latin typeface="Aptos"/>
              </a:rPr>
              <a:t>Launcher, test plan &amp; SSL certificate paths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94376" y="4059935"/>
            <a:ext cx="6053328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50">
                <a:solidFill>
                  <a:srgbClr val="232B37"/>
                </a:solidFill>
                <a:latin typeface="Aptos"/>
              </a:rPr>
              <a:t>ADD .BAT/.CMD + .JMX + APPROVED CERTIFICATE / KEYSTORE LOCATIONS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148072"/>
            <a:ext cx="10835640" cy="75895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5276088"/>
            <a:ext cx="10524744" cy="57607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300">
                <a:solidFill>
                  <a:srgbClr val="232B37"/>
                </a:solidFill>
                <a:latin typeface="Aptos"/>
              </a:rPr>
              <a:t>SSL prerequisite: load the approved certificate before HTTPS API requests. Proxy settings are loaded through -q; the BNS policy file has a separate fixed SharePoint 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JMETER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Campaign scheduling — 2-minute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234440"/>
            <a:ext cx="10844784" cy="1024128"/>
          </a:xfrm>
          <a:prstGeom prst="roundRect">
            <a:avLst/>
          </a:prstGeom>
          <a:solidFill>
            <a:srgbClr val="E6F7F5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517904"/>
            <a:ext cx="1325880" cy="365760"/>
          </a:xfrm>
          <a:prstGeom prst="round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581912"/>
            <a:ext cx="1216152" cy="2468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WARM-UP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41448" y="1453896"/>
            <a:ext cx="72237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900" b="1" i="0">
                <a:solidFill>
                  <a:srgbClr val="0D2039"/>
                </a:solidFill>
                <a:latin typeface="Aptos"/>
              </a:rPr>
              <a:t>Generate Token + 10 Purchase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38360" y="1499616"/>
            <a:ext cx="1408176" cy="384048"/>
          </a:xfrm>
          <a:prstGeom prst="roundRect">
            <a:avLst/>
          </a:prstGeom>
          <a:solidFill>
            <a:srgbClr val="FF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93224" y="1563624"/>
            <a:ext cx="1298448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200" b="1" i="0">
                <a:solidFill>
                  <a:srgbClr val="CD7521"/>
                </a:solidFill>
                <a:latin typeface="Aptos"/>
              </a:rPr>
              <a:t>WAIT 2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697480"/>
            <a:ext cx="9509760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00" b="1" i="0">
                <a:solidFill>
                  <a:srgbClr val="2566B2"/>
                </a:solidFill>
                <a:latin typeface="Aptos"/>
              </a:rPr>
              <a:t>FIVE SEQUENTIAL LOAD SCENARIOS — WAIT 2 MINUTES BETWEEN EACH PAIR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55264"/>
            <a:ext cx="1508760" cy="13716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465576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600" b="1" i="0">
                <a:solidFill>
                  <a:srgbClr val="2566B2"/>
                </a:solidFill>
                <a:latin typeface="Aptos"/>
              </a:rPr>
              <a:t>1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" y="3922776"/>
            <a:ext cx="1362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10" b="0" i="0">
                <a:solidFill>
                  <a:srgbClr val="212F40"/>
                </a:solidFill>
                <a:latin typeface="Aptos"/>
              </a:rPr>
              <a:t>50 loops
10 s ramp-up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76856" y="3566160"/>
            <a:ext cx="566928" cy="667512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95144" y="3712463"/>
            <a:ext cx="53035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00" b="1" i="0">
                <a:solidFill>
                  <a:srgbClr val="CD7521"/>
                </a:solidFill>
                <a:latin typeface="Aptos"/>
              </a:rPr>
              <a:t>2
min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53512" y="3255264"/>
            <a:ext cx="1508760" cy="13716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63240" y="3465576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600" b="1" i="0">
                <a:solidFill>
                  <a:srgbClr val="2566B2"/>
                </a:solidFill>
                <a:latin typeface="Aptos"/>
              </a:rPr>
              <a:t>2 USERS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26664" y="3922776"/>
            <a:ext cx="1362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10" b="0" i="0">
                <a:solidFill>
                  <a:srgbClr val="212F40"/>
                </a:solidFill>
                <a:latin typeface="Aptos"/>
              </a:rPr>
              <a:t>50 loops
10 s ramp-up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566160"/>
            <a:ext cx="566928" cy="667512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712463"/>
            <a:ext cx="53035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00" b="1" i="0">
                <a:solidFill>
                  <a:srgbClr val="CD7521"/>
                </a:solidFill>
                <a:latin typeface="Aptos"/>
              </a:rPr>
              <a:t>2
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48656" y="3255264"/>
            <a:ext cx="1508760" cy="13716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58384" y="3465576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600" b="1" i="0">
                <a:solidFill>
                  <a:srgbClr val="2566B2"/>
                </a:solidFill>
                <a:latin typeface="Aptos"/>
              </a:rPr>
              <a:t>4 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1808" y="3922776"/>
            <a:ext cx="1362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10" b="0" i="0">
                <a:solidFill>
                  <a:srgbClr val="212F40"/>
                </a:solidFill>
                <a:latin typeface="Aptos"/>
              </a:rPr>
              <a:t>50 loops
10 s ramp-up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67144" y="3566160"/>
            <a:ext cx="566928" cy="667512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85431" y="3712463"/>
            <a:ext cx="53035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00" b="1" i="0">
                <a:solidFill>
                  <a:srgbClr val="CD7521"/>
                </a:solidFill>
                <a:latin typeface="Aptos"/>
              </a:rPr>
              <a:t>2
min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43800" y="3255264"/>
            <a:ext cx="1508760" cy="13716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53527" y="3465576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600" b="1" i="0">
                <a:solidFill>
                  <a:srgbClr val="2566B2"/>
                </a:solidFill>
                <a:latin typeface="Aptos"/>
              </a:rPr>
              <a:t>8 USERS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6952" y="3922776"/>
            <a:ext cx="1362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10" b="0" i="0">
                <a:solidFill>
                  <a:srgbClr val="212F40"/>
                </a:solidFill>
                <a:latin typeface="Aptos"/>
              </a:rPr>
              <a:t>50 loops
10 s ramp-up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62288" y="3566160"/>
            <a:ext cx="566928" cy="667512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0576" y="3712463"/>
            <a:ext cx="530352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00" b="1" i="0">
                <a:solidFill>
                  <a:srgbClr val="CD7521"/>
                </a:solidFill>
                <a:latin typeface="Aptos"/>
              </a:rPr>
              <a:t>2
min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3255264"/>
            <a:ext cx="1508760" cy="137160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48672" y="3465576"/>
            <a:ext cx="128930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600" b="1" i="0">
                <a:solidFill>
                  <a:srgbClr val="2566B2"/>
                </a:solidFill>
                <a:latin typeface="Aptos"/>
              </a:rPr>
              <a:t>12 USERS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12096" y="3922776"/>
            <a:ext cx="1362456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10" b="0" i="0">
                <a:solidFill>
                  <a:srgbClr val="212F40"/>
                </a:solidFill>
                <a:latin typeface="Aptos"/>
              </a:rPr>
              <a:t>50 loops
10 s ramp-up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" y="5230368"/>
            <a:ext cx="10753344" cy="6217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67528"/>
            <a:ext cx="102961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350" b="0" i="0">
                <a:solidFill>
                  <a:srgbClr val="212F40"/>
                </a:solidFill>
                <a:latin typeface="Aptos"/>
              </a:rPr>
              <a:t>Only the number of threads changes (1 / 2 / 4 / 8 / 12); Loop Count = 50 and Ramp-up = 10 seconds for all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API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One sequential thread — two conditional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005840"/>
            <a:ext cx="109728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340" b="1" i="0">
                <a:solidFill>
                  <a:srgbClr val="008B8B"/>
                </a:solidFill>
                <a:latin typeface="Aptos"/>
              </a:rPr>
              <a:t>Sale_BNS is always called after Purchase_Cpl: either immediately on failure, or after the CPL sequence on success.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" y="1645920"/>
            <a:ext cx="2377440" cy="3063240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8366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40" b="1" i="0">
                <a:solidFill>
                  <a:srgbClr val="2566B2"/>
                </a:solidFill>
                <a:latin typeface="Aptos"/>
              </a:rPr>
              <a:t>THREAD START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2322576"/>
            <a:ext cx="1920240" cy="704088"/>
          </a:xfrm>
          <a:prstGeom prst="roundRect">
            <a:avLst/>
          </a:prstGeom>
          <a:solidFill>
            <a:srgbClr val="E6F7F5"/>
          </a:solidFill>
          <a:ln w="228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395728"/>
            <a:ext cx="1737360" cy="5577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270" b="1" i="0">
                <a:solidFill>
                  <a:srgbClr val="0D2039"/>
                </a:solidFill>
                <a:latin typeface="Aptos"/>
              </a:rPr>
              <a:t>Generate Token
(once only)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337560"/>
            <a:ext cx="1920240" cy="65836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D20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410712"/>
            <a:ext cx="173736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400" b="1" i="0">
                <a:solidFill>
                  <a:srgbClr val="0D2039"/>
                </a:solidFill>
                <a:latin typeface="Aptos"/>
              </a:rPr>
              <a:t>Loop iteration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64792" y="3026664"/>
            <a:ext cx="0" cy="292608"/>
          </a:xfrm>
          <a:prstGeom prst="line">
            <a:avLst/>
          </a:prstGeom>
          <a:ln w="25400">
            <a:solidFill>
              <a:srgbClr val="008B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37560" y="3346704"/>
            <a:ext cx="1664208" cy="676656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419856"/>
            <a:ext cx="1481328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0D2039"/>
                </a:solidFill>
                <a:latin typeface="Aptos"/>
              </a:rPr>
              <a:t>Purchase_Cpl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24912" y="3675887"/>
            <a:ext cx="594360" cy="0"/>
          </a:xfrm>
          <a:prstGeom prst="line">
            <a:avLst/>
          </a:prstGeom>
          <a:ln w="25400">
            <a:solidFill>
              <a:srgbClr val="0D20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iamond 19"/>
          <p:cNvSpPr/>
          <p:nvPr/>
        </p:nvSpPr>
        <p:spPr>
          <a:xfrm>
            <a:off x="5266944" y="3145536"/>
            <a:ext cx="1216152" cy="1024128"/>
          </a:xfrm>
          <a:prstGeom prst="diamond">
            <a:avLst/>
          </a:prstGeom>
          <a:solidFill>
            <a:srgbClr val="FFFFFF"/>
          </a:solidFill>
          <a:ln w="254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4688" y="3438144"/>
            <a:ext cx="7315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190" b="1" i="0">
                <a:solidFill>
                  <a:srgbClr val="0D2039"/>
                </a:solidFill>
                <a:latin typeface="Aptos"/>
              </a:rPr>
              <a:t>Purchase
OK?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01768" y="3675887"/>
            <a:ext cx="246888" cy="0"/>
          </a:xfrm>
          <a:prstGeom prst="line">
            <a:avLst/>
          </a:prstGeom>
          <a:ln w="25400">
            <a:solidFill>
              <a:srgbClr val="2566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9984" y="1645920"/>
            <a:ext cx="1417320" cy="630936"/>
          </a:xfrm>
          <a:prstGeom prst="roundRect">
            <a:avLst/>
          </a:prstGeom>
          <a:solidFill>
            <a:srgbClr val="EBF3FC"/>
          </a:solidFill>
          <a:ln w="2286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21424" y="1719072"/>
            <a:ext cx="1234440" cy="4846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250" b="1" i="0">
                <a:solidFill>
                  <a:srgbClr val="0D2039"/>
                </a:solidFill>
                <a:latin typeface="Aptos"/>
              </a:rPr>
              <a:t>Policy_Cpl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9327" y="1645920"/>
            <a:ext cx="1490472" cy="630936"/>
          </a:xfrm>
          <a:prstGeom prst="roundRect">
            <a:avLst/>
          </a:prstGeom>
          <a:solidFill>
            <a:srgbClr val="EBF3FC"/>
          </a:solidFill>
          <a:ln w="2286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7" y="1719072"/>
            <a:ext cx="1307592" cy="4846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150" b="1" i="0">
                <a:solidFill>
                  <a:srgbClr val="0D2039"/>
                </a:solidFill>
                <a:latin typeface="Aptos"/>
              </a:rPr>
              <a:t>Generate PDF_Cpl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1824" y="1645920"/>
            <a:ext cx="1417320" cy="630936"/>
          </a:xfrm>
          <a:prstGeom prst="roundRect">
            <a:avLst/>
          </a:prstGeom>
          <a:solidFill>
            <a:srgbClr val="EBF3FC"/>
          </a:solidFill>
          <a:ln w="2286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13264" y="1719072"/>
            <a:ext cx="1234440" cy="48463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250" b="1" i="0">
                <a:solidFill>
                  <a:srgbClr val="0D2039"/>
                </a:solidFill>
                <a:latin typeface="Aptos"/>
              </a:rPr>
              <a:t>Cancel_Cpl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861304" y="1956816"/>
            <a:ext cx="0" cy="1188720"/>
          </a:xfrm>
          <a:prstGeom prst="line">
            <a:avLst/>
          </a:prstGeom>
          <a:ln w="33020">
            <a:solidFill>
              <a:srgbClr val="1C85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861304" y="1956816"/>
            <a:ext cx="850392" cy="0"/>
          </a:xfrm>
          <a:prstGeom prst="line">
            <a:avLst/>
          </a:prstGeom>
          <a:ln w="33020">
            <a:solidFill>
              <a:srgbClr val="1C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147304" y="1956816"/>
            <a:ext cx="173736" cy="0"/>
          </a:xfrm>
          <a:prstGeom prst="line">
            <a:avLst/>
          </a:prstGeom>
          <a:ln w="25400">
            <a:solidFill>
              <a:srgbClr val="2566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829800" y="1956816"/>
            <a:ext cx="173736" cy="0"/>
          </a:xfrm>
          <a:prstGeom prst="line">
            <a:avLst/>
          </a:prstGeom>
          <a:ln w="25400">
            <a:solidFill>
              <a:srgbClr val="2566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71032" y="2432304"/>
            <a:ext cx="758952" cy="301752"/>
          </a:xfrm>
          <a:prstGeom prst="roundRect">
            <a:avLst/>
          </a:prstGeom>
          <a:solidFill>
            <a:srgbClr val="ED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25896" y="2496312"/>
            <a:ext cx="64922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80" b="1" i="0">
                <a:solidFill>
                  <a:srgbClr val="1C855A"/>
                </a:solidFill>
                <a:latin typeface="Aptos"/>
              </a:rP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863840" y="4005072"/>
            <a:ext cx="1408176" cy="649224"/>
          </a:xfrm>
          <a:prstGeom prst="roundRect">
            <a:avLst/>
          </a:prstGeom>
          <a:solidFill>
            <a:srgbClr val="E6F7F5"/>
          </a:solidFill>
          <a:ln w="228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79" y="4078224"/>
            <a:ext cx="1225296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0D2039"/>
                </a:solidFill>
                <a:latin typeface="Aptos"/>
              </a:rPr>
              <a:t>Sale_BNS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83096" y="3675887"/>
            <a:ext cx="466344" cy="0"/>
          </a:xfrm>
          <a:prstGeom prst="line">
            <a:avLst/>
          </a:prstGeom>
          <a:ln w="30480">
            <a:solidFill>
              <a:srgbClr val="C34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949440" y="3675887"/>
            <a:ext cx="0" cy="658369"/>
          </a:xfrm>
          <a:prstGeom prst="line">
            <a:avLst/>
          </a:prstGeom>
          <a:ln w="30480">
            <a:solidFill>
              <a:srgbClr val="C341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949440" y="4334256"/>
            <a:ext cx="886968" cy="0"/>
          </a:xfrm>
          <a:prstGeom prst="line">
            <a:avLst/>
          </a:prstGeom>
          <a:ln w="30480">
            <a:solidFill>
              <a:srgbClr val="C341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537960" y="3236976"/>
            <a:ext cx="1005840" cy="283464"/>
          </a:xfrm>
          <a:prstGeom prst="roundRect">
            <a:avLst/>
          </a:prstGeom>
          <a:solidFill>
            <a:srgbClr val="FDE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92824" y="3300984"/>
            <a:ext cx="896112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1" i="0">
                <a:solidFill>
                  <a:srgbClr val="C34142"/>
                </a:solidFill>
                <a:latin typeface="Aptos"/>
              </a:rPr>
              <a:t>NO / ERROR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0735056" y="2276856"/>
            <a:ext cx="0" cy="557784"/>
          </a:xfrm>
          <a:prstGeom prst="line">
            <a:avLst/>
          </a:prstGeom>
          <a:ln w="27940">
            <a:solidFill>
              <a:srgbClr val="256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567928" y="2834640"/>
            <a:ext cx="2167128" cy="0"/>
          </a:xfrm>
          <a:prstGeom prst="line">
            <a:avLst/>
          </a:prstGeom>
          <a:ln w="27940">
            <a:solidFill>
              <a:srgbClr val="2566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567928" y="2834640"/>
            <a:ext cx="0" cy="1152144"/>
          </a:xfrm>
          <a:prstGeom prst="line">
            <a:avLst/>
          </a:prstGeom>
          <a:ln w="27940">
            <a:solidFill>
              <a:srgbClr val="2566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Diamond 44"/>
          <p:cNvSpPr/>
          <p:nvPr/>
        </p:nvSpPr>
        <p:spPr>
          <a:xfrm>
            <a:off x="9528048" y="3831336"/>
            <a:ext cx="1033271" cy="941832"/>
          </a:xfrm>
          <a:prstGeom prst="diamond">
            <a:avLst/>
          </a:prstGeom>
          <a:solidFill>
            <a:srgbClr val="FFFFFF"/>
          </a:solidFill>
          <a:ln w="254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774936" y="4123944"/>
            <a:ext cx="557784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140" b="1" i="0">
                <a:solidFill>
                  <a:srgbClr val="0D2039"/>
                </a:solidFill>
                <a:latin typeface="Aptos"/>
              </a:rPr>
              <a:t>Sale
OK?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272016" y="4334256"/>
            <a:ext cx="228600" cy="0"/>
          </a:xfrm>
          <a:prstGeom prst="line">
            <a:avLst/>
          </a:prstGeom>
          <a:ln w="25400">
            <a:solidFill>
              <a:srgbClr val="008B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771632" y="4005072"/>
            <a:ext cx="1060704" cy="649224"/>
          </a:xfrm>
          <a:prstGeom prst="roundRect">
            <a:avLst/>
          </a:prstGeom>
          <a:solidFill>
            <a:srgbClr val="EDF9F3"/>
          </a:solidFill>
          <a:ln w="22860">
            <a:solidFill>
              <a:srgbClr val="1C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63072" y="4078224"/>
            <a:ext cx="877824" cy="502919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10" b="1" i="0">
                <a:solidFill>
                  <a:srgbClr val="0D2039"/>
                </a:solidFill>
                <a:latin typeface="Aptos"/>
              </a:rPr>
              <a:t>Cancellation
_BNS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561320" y="4334256"/>
            <a:ext cx="182880" cy="0"/>
          </a:xfrm>
          <a:prstGeom prst="line">
            <a:avLst/>
          </a:prstGeom>
          <a:ln w="25400">
            <a:solidFill>
              <a:srgbClr val="1C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0497312" y="3584448"/>
            <a:ext cx="694944" cy="274320"/>
          </a:xfrm>
          <a:prstGeom prst="roundRect">
            <a:avLst/>
          </a:prstGeom>
          <a:solidFill>
            <a:srgbClr val="ED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52176" y="3648456"/>
            <a:ext cx="585216" cy="1554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000" b="1" i="0">
                <a:solidFill>
                  <a:srgbClr val="1C855A"/>
                </a:solidFill>
                <a:latin typeface="Aptos"/>
              </a:rPr>
              <a:t>YES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040112" y="4773168"/>
            <a:ext cx="0" cy="347472"/>
          </a:xfrm>
          <a:prstGeom prst="line">
            <a:avLst/>
          </a:prstGeom>
          <a:ln w="25400">
            <a:solidFill>
              <a:srgbClr val="C341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232136" y="4882896"/>
            <a:ext cx="1508760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20" b="1" i="0">
                <a:solidFill>
                  <a:srgbClr val="C34142"/>
                </a:solidFill>
                <a:latin typeface="Aptos"/>
              </a:rPr>
              <a:t>NO: skip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76656" y="5532120"/>
            <a:ext cx="10808208" cy="6217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104" y="5660136"/>
            <a:ext cx="1049731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280" b="0" i="0">
                <a:solidFill>
                  <a:srgbClr val="212F40"/>
                </a:solidFill>
                <a:latin typeface="Aptos"/>
              </a:rPr>
              <a:t>IF #1: Purchase success gates the three CPL calls. IF #2: Sale_BNS success gates Cancellation_BNS. No parallel branches.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JMETER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Five CSV files — the generator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1005840"/>
            <a:ext cx="10881360" cy="2834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400" b="0" i="0">
                <a:solidFill>
                  <a:srgbClr val="212F40"/>
                </a:solidFill>
                <a:latin typeface="Aptos"/>
              </a:rPr>
              <a:t>Collect exactly one results CSV for each load profile before running the Recap Generator.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600200"/>
            <a:ext cx="2057400" cy="1426464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1810512"/>
            <a:ext cx="1783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720" b="1" i="0">
                <a:solidFill>
                  <a:srgbClr val="2566B2"/>
                </a:solidFill>
                <a:latin typeface="Aptos"/>
              </a:rPr>
              <a:t>1 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22576"/>
            <a:ext cx="184708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40" b="1" i="0">
                <a:solidFill>
                  <a:srgbClr val="008B8B"/>
                </a:solidFill>
                <a:latin typeface="Aptos"/>
              </a:rPr>
              <a:t>CSV #1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90088" y="1600200"/>
            <a:ext cx="2057400" cy="1426464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27248" y="1810512"/>
            <a:ext cx="1783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720" b="1" i="0">
                <a:solidFill>
                  <a:srgbClr val="2566B2"/>
                </a:solidFill>
                <a:latin typeface="Aptos"/>
              </a:rPr>
              <a:t>2 users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9816" y="2322576"/>
            <a:ext cx="184708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40" b="1" i="0">
                <a:solidFill>
                  <a:srgbClr val="008B8B"/>
                </a:solidFill>
                <a:latin typeface="Aptos"/>
              </a:rPr>
              <a:t>CSV #2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66944" y="1600200"/>
            <a:ext cx="2057400" cy="1426464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4104" y="1810512"/>
            <a:ext cx="1783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720" b="1" i="0">
                <a:solidFill>
                  <a:srgbClr val="2566B2"/>
                </a:solidFill>
                <a:latin typeface="Aptos"/>
              </a:rPr>
              <a:t>4 users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2" y="2322576"/>
            <a:ext cx="184708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40" b="1" i="0">
                <a:solidFill>
                  <a:srgbClr val="008B8B"/>
                </a:solidFill>
                <a:latin typeface="Aptos"/>
              </a:rPr>
              <a:t>CSV #3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1600200"/>
            <a:ext cx="2057400" cy="1426464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810512"/>
            <a:ext cx="1783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720" b="1" i="0">
                <a:solidFill>
                  <a:srgbClr val="2566B2"/>
                </a:solidFill>
                <a:latin typeface="Aptos"/>
              </a:rPr>
              <a:t>8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7" y="2322576"/>
            <a:ext cx="184708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40" b="1" i="0">
                <a:solidFill>
                  <a:srgbClr val="008B8B"/>
                </a:solidFill>
                <a:latin typeface="Aptos"/>
              </a:rPr>
              <a:t>CSV #4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20656" y="1600200"/>
            <a:ext cx="2057400" cy="1426464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57816" y="1810512"/>
            <a:ext cx="17830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720" b="1" i="0">
                <a:solidFill>
                  <a:srgbClr val="2566B2"/>
                </a:solidFill>
                <a:latin typeface="Aptos"/>
              </a:rPr>
              <a:t>12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30384" y="2322576"/>
            <a:ext cx="184708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40" b="1" i="0">
                <a:solidFill>
                  <a:srgbClr val="008B8B"/>
                </a:solidFill>
                <a:latin typeface="Aptos"/>
              </a:rPr>
              <a:t>CSV #5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" y="3246120"/>
            <a:ext cx="10780776" cy="868680"/>
          </a:xfrm>
          <a:prstGeom prst="roundRect">
            <a:avLst/>
          </a:prstGeom>
          <a:solidFill>
            <a:srgbClr val="13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447288"/>
            <a:ext cx="101041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910" b="1" i="0">
                <a:solidFill>
                  <a:srgbClr val="FFFFFF"/>
                </a:solidFill>
                <a:latin typeface="Consolas"/>
              </a:rPr>
              <a:t>IDP API_RESULTS_&lt;users&gt;*.csv  →  1, 2, 4, 8, 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" y="4443984"/>
            <a:ext cx="5129784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0664" y="4443984"/>
            <a:ext cx="59436" cy="1481328"/>
          </a:xfrm>
          <a:prstGeom prst="rect">
            <a:avLst/>
          </a:prstGeom>
          <a:solidFill>
            <a:srgbClr val="CD75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99432"/>
            <a:ext cx="476402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Before you continue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0056"/>
            <a:ext cx="4782312" cy="841248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12F40"/>
                </a:solidFill>
                <a:latin typeface="Aptos"/>
              </a:rPr>
              <a:t>Verify all 5 files are present, non-empty, and separated by user load.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17336" y="4443984"/>
            <a:ext cx="5394960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17336" y="4443984"/>
            <a:ext cx="59436" cy="148132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599432"/>
            <a:ext cx="50292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Recap Generator input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5020056"/>
            <a:ext cx="5047488" cy="841248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212F40"/>
                </a:solidFill>
                <a:latin typeface="Aptos"/>
              </a:rPr>
              <a:t>Place the five CSV files in the folder configured as RESULTS_FOLDER.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6108192"/>
            <a:ext cx="1005840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19" b="0" i="0">
                <a:solidFill>
                  <a:srgbClr val="5B6D82"/>
                </a:solidFill>
                <a:latin typeface="Aptos"/>
              </a:rPr>
              <a:t>File prefix shown as a pattern: keep the exact spelling and suffix configured in the JMeter CSV listeners.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PERFORMANCE RECAP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One run produces two reporting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2039112"/>
            <a:ext cx="2240280" cy="914400"/>
          </a:xfrm>
          <a:prstGeom prst="roundRect">
            <a:avLst/>
          </a:prstGeom>
          <a:solidFill>
            <a:srgbClr val="EBF3FC"/>
          </a:solidFill>
          <a:ln w="2286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12264"/>
            <a:ext cx="2057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400" b="1" i="0">
                <a:solidFill>
                  <a:srgbClr val="0D2039"/>
                </a:solidFill>
                <a:latin typeface="Aptos"/>
              </a:rPr>
              <a:t>5 JMeter CSVs
RESULTS_FOLDER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337560"/>
            <a:ext cx="2240280" cy="914400"/>
          </a:xfrm>
          <a:prstGeom prst="roundRect">
            <a:avLst/>
          </a:prstGeom>
          <a:solidFill>
            <a:srgbClr val="EBF3FC"/>
          </a:solidFill>
          <a:ln w="2286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410712"/>
            <a:ext cx="2057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250" b="1" i="0">
                <a:solidFill>
                  <a:srgbClr val="0D2039"/>
                </a:solidFill>
                <a:latin typeface="Aptos"/>
              </a:rPr>
              <a:t>perf_template.docx
DOC_TEMPLATE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2651760"/>
            <a:ext cx="2286000" cy="1143000"/>
          </a:xfrm>
          <a:prstGeom prst="roundRect">
            <a:avLst/>
          </a:prstGeom>
          <a:solidFill>
            <a:srgbClr val="E6F7F5"/>
          </a:solidFill>
          <a:ln w="2286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2724912"/>
            <a:ext cx="2103120" cy="9966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0D2039"/>
                </a:solidFill>
                <a:latin typeface="Aptos"/>
              </a:rPr>
              <a:t>Recap Generator
python main.py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53512" y="2496312"/>
            <a:ext cx="1042416" cy="640080"/>
          </a:xfrm>
          <a:prstGeom prst="line">
            <a:avLst/>
          </a:prstGeom>
          <a:ln w="25400">
            <a:solidFill>
              <a:srgbClr val="2566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953512" y="3392424"/>
            <a:ext cx="1042416" cy="402336"/>
          </a:xfrm>
          <a:prstGeom prst="line">
            <a:avLst/>
          </a:prstGeom>
          <a:ln w="25400">
            <a:solidFill>
              <a:srgbClr val="2566B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70064" y="1847088"/>
            <a:ext cx="2971800" cy="832104"/>
          </a:xfrm>
          <a:prstGeom prst="roundRect">
            <a:avLst/>
          </a:prstGeom>
          <a:solidFill>
            <a:srgbClr val="EDF9F3"/>
          </a:solidFill>
          <a:ln w="22860">
            <a:solidFill>
              <a:srgbClr val="1C8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1920240"/>
            <a:ext cx="278892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500" b="1" i="0">
                <a:solidFill>
                  <a:srgbClr val="0D2039"/>
                </a:solidFill>
                <a:latin typeface="Aptos"/>
              </a:rPr>
              <a:t>recap_scenarios.xlsx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70064" y="3803904"/>
            <a:ext cx="2971800" cy="832104"/>
          </a:xfrm>
          <a:prstGeom prst="roundRect">
            <a:avLst/>
          </a:prstGeom>
          <a:solidFill>
            <a:srgbClr val="FFF5E7"/>
          </a:solidFill>
          <a:ln w="2286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3877056"/>
            <a:ext cx="2788920" cy="685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400" b="1" i="0">
                <a:solidFill>
                  <a:srgbClr val="0D2039"/>
                </a:solidFill>
                <a:latin typeface="Aptos"/>
              </a:rPr>
              <a:t>perf_result_output.docx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309360" y="2258568"/>
            <a:ext cx="1033271" cy="777240"/>
          </a:xfrm>
          <a:prstGeom prst="line">
            <a:avLst/>
          </a:prstGeom>
          <a:ln w="25400">
            <a:solidFill>
              <a:srgbClr val="1C85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309360" y="3447288"/>
            <a:ext cx="1033271" cy="758952"/>
          </a:xfrm>
          <a:prstGeom prst="line">
            <a:avLst/>
          </a:prstGeom>
          <a:ln w="25400">
            <a:solidFill>
              <a:srgbClr val="CD752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451592" y="2011680"/>
            <a:ext cx="1234440" cy="457200"/>
          </a:xfrm>
          <a:prstGeom prst="roundRect">
            <a:avLst/>
          </a:prstGeom>
          <a:solidFill>
            <a:srgbClr val="ED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06456" y="2075688"/>
            <a:ext cx="112471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170" b="1" i="0">
                <a:solidFill>
                  <a:srgbClr val="1C855A"/>
                </a:solidFill>
                <a:latin typeface="Aptos"/>
              </a:rPr>
              <a:t>SharePoint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51592" y="3986784"/>
            <a:ext cx="1234440" cy="457200"/>
          </a:xfrm>
          <a:prstGeom prst="roundRect">
            <a:avLst/>
          </a:prstGeom>
          <a:solidFill>
            <a:srgbClr val="FFF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06456" y="4050792"/>
            <a:ext cx="1124712" cy="338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170" b="1" i="0">
                <a:solidFill>
                  <a:srgbClr val="CD7521"/>
                </a:solidFill>
                <a:latin typeface="Aptos"/>
              </a:rPr>
              <a:t>Confluence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5193792"/>
            <a:ext cx="10927080" cy="786384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21807"/>
            <a:ext cx="10616184" cy="60350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400" b="0" i="0">
                <a:solidFill>
                  <a:srgbClr val="212F40"/>
                </a:solidFill>
                <a:latin typeface="Aptos"/>
              </a:rPr>
              <a:t>The Excel output feeds the central SharePoint recap (response times and error rates). The Word output is uploaded to the Confluence performance test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PERFORMANCE RECAP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Prerequisites, .env setup, and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124712"/>
            <a:ext cx="2798064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24712"/>
            <a:ext cx="59436" cy="2057400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1280160"/>
            <a:ext cx="2432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Prerequisites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1700784"/>
            <a:ext cx="2450592" cy="1417320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40" b="0">
                <a:solidFill>
                  <a:srgbClr val="212F40"/>
                </a:solidFill>
                <a:latin typeface="Aptos"/>
              </a:rPr>
              <a:t>Python 3.10+</a:t>
            </a:r>
          </a:p>
          <a:p>
            <a:pPr>
              <a:spcAft>
                <a:spcPts val="1000"/>
              </a:spcAft>
            </a:pPr>
            <a:r>
              <a:rPr sz="1340" b="0">
                <a:solidFill>
                  <a:srgbClr val="212F40"/>
                </a:solidFill>
                <a:latin typeface="Aptos"/>
              </a:rPr>
              <a:t>xlsxwriter</a:t>
            </a:r>
          </a:p>
          <a:p>
            <a:pPr>
              <a:spcAft>
                <a:spcPts val="1000"/>
              </a:spcAft>
            </a:pPr>
            <a:r>
              <a:rPr sz="1340" b="0">
                <a:solidFill>
                  <a:srgbClr val="212F40"/>
                </a:solidFill>
                <a:latin typeface="Aptos"/>
              </a:rPr>
              <a:t>python-dotenv</a:t>
            </a:r>
          </a:p>
          <a:p>
            <a:pPr>
              <a:spcAft>
                <a:spcPts val="1000"/>
              </a:spcAft>
            </a:pPr>
            <a:r>
              <a:rPr sz="1340" b="0">
                <a:solidFill>
                  <a:srgbClr val="212F40"/>
                </a:solidFill>
                <a:latin typeface="Aptos"/>
              </a:rPr>
              <a:t>Source: perfrecapgenerator.zip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1124712"/>
            <a:ext cx="7763256" cy="3090672"/>
          </a:xfrm>
          <a:prstGeom prst="roundRect">
            <a:avLst/>
          </a:prstGeom>
          <a:solidFill>
            <a:srgbClr val="13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1063" y="1344168"/>
            <a:ext cx="71323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50" b="1" i="0">
                <a:solidFill>
                  <a:srgbClr val="99DFDD"/>
                </a:solidFill>
                <a:latin typeface="Aptos"/>
              </a:rPr>
              <a:t>CREATE / UPDATE THE .env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1865376"/>
            <a:ext cx="7132320" cy="20848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50" b="0" i="0">
                <a:solidFill>
                  <a:srgbClr val="FFFFFF"/>
                </a:solidFill>
                <a:latin typeface="Consolas"/>
              </a:rPr>
              <a:t>RESULTS_FOLDER=&lt;folder with the 5 JMeter CSV files&gt;
OUTPUT_FILE=&lt;path to recap_scenarios.xlsx&gt;
DOC_TEMPLATE=&lt;path to perf_template.docx&gt;
DOC_OUTPUT=&lt;path to perf_result_output.docx&gt;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93008"/>
            <a:ext cx="2798064" cy="1764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493008"/>
            <a:ext cx="59436" cy="176479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648456"/>
            <a:ext cx="2432304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Run the generator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069080"/>
            <a:ext cx="2450592" cy="1124712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50" b="0">
                <a:solidFill>
                  <a:srgbClr val="212F40"/>
                </a:solidFill>
                <a:latin typeface="Aptos"/>
              </a:rPr>
              <a:t>From the project folder, execute:</a:t>
            </a:r>
          </a:p>
          <a:p>
            <a:pPr>
              <a:spcAft>
                <a:spcPts val="1000"/>
              </a:spcAft>
            </a:pPr>
            <a:r>
              <a:rPr sz="1350" b="0">
                <a:solidFill>
                  <a:srgbClr val="212F40"/>
                </a:solidFill>
                <a:latin typeface="Aptos"/>
              </a:rPr>
              <a:t>python main.py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21608" y="4480560"/>
            <a:ext cx="7763256" cy="768096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77056" y="4608576"/>
            <a:ext cx="7452360" cy="58521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400" b="0" i="0">
                <a:solidFill>
                  <a:srgbClr val="212F40"/>
                </a:solidFill>
                <a:latin typeface="Aptos"/>
              </a:rPr>
              <a:t>Check that both output files exist and contain data for all five loads before publishing.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Excel output → update the SharePoint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43000"/>
            <a:ext cx="516636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59436" cy="2157984"/>
          </a:xfrm>
          <a:prstGeom prst="rect">
            <a:avLst/>
          </a:prstGeom>
          <a:solidFill>
            <a:srgbClr val="1C8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5" y="1298448"/>
            <a:ext cx="480060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WORKBOOK: recap_scenarios.xlsx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" y="1719072"/>
            <a:ext cx="4818888" cy="1517904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20" b="0">
                <a:solidFill>
                  <a:srgbClr val="212F40"/>
                </a:solidFill>
                <a:latin typeface="Aptos"/>
              </a:rPr>
              <a:t>Data Time Response Time: average response time by API and load.</a:t>
            </a:r>
          </a:p>
          <a:p>
            <a:pPr>
              <a:spcAft>
                <a:spcPts val="1000"/>
              </a:spcAft>
            </a:pPr>
            <a:r>
              <a:rPr sz="1320" b="0">
                <a:solidFill>
                  <a:srgbClr val="212F40"/>
                </a:solidFill>
                <a:latin typeface="Aptos"/>
              </a:rPr>
              <a:t>Data Error Rate: error percentage by API and load.</a:t>
            </a:r>
          </a:p>
          <a:p>
            <a:pPr>
              <a:spcAft>
                <a:spcPts val="1000"/>
              </a:spcAft>
            </a:pPr>
            <a:r>
              <a:rPr sz="1320" b="0">
                <a:solidFill>
                  <a:srgbClr val="212F40"/>
                </a:solidFill>
                <a:latin typeface="Aptos"/>
              </a:rPr>
              <a:t>One scenario sheet per load: Samples, Avg, Min, Max, StdDev, Throughput, KB/s.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07608" y="1143000"/>
            <a:ext cx="5458968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07608" y="1143000"/>
            <a:ext cx="59436" cy="2157984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298448"/>
            <a:ext cx="5093207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SHARED RECAP: WHAT TO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719072"/>
            <a:ext cx="5111496" cy="1517904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290" b="0">
                <a:solidFill>
                  <a:srgbClr val="212F40"/>
                </a:solidFill>
                <a:latin typeface="Aptos"/>
              </a:rPr>
              <a:t>1  Copy the response-time results for each API/load.</a:t>
            </a:r>
          </a:p>
          <a:p>
            <a:pPr>
              <a:spcAft>
                <a:spcPts val="1000"/>
              </a:spcAft>
            </a:pPr>
            <a:r>
              <a:rPr sz="1290" b="0">
                <a:solidFill>
                  <a:srgbClr val="212F40"/>
                </a:solidFill>
                <a:latin typeface="Aptos"/>
              </a:rPr>
              <a:t>2  Copy the error rates for each API/load.</a:t>
            </a:r>
          </a:p>
          <a:p>
            <a:pPr>
              <a:spcAft>
                <a:spcPts val="1000"/>
              </a:spcAft>
            </a:pPr>
            <a:r>
              <a:rPr sz="1290" b="0">
                <a:solidFill>
                  <a:srgbClr val="212F40"/>
                </a:solidFill>
                <a:latin typeface="Aptos"/>
              </a:rPr>
              <a:t>3  Update the corresponding campaign / scenario rows.</a:t>
            </a:r>
          </a:p>
          <a:p>
            <a:pPr>
              <a:spcAft>
                <a:spcPts val="1000"/>
              </a:spcAft>
            </a:pPr>
            <a:r>
              <a:rPr sz="1290" b="0">
                <a:solidFill>
                  <a:srgbClr val="212F40"/>
                </a:solidFill>
                <a:latin typeface="Aptos"/>
              </a:rPr>
              <a:t>4  Save and verify the consolidated recap.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749039"/>
            <a:ext cx="10735056" cy="1078992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849624"/>
            <a:ext cx="10442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SharePoint performance recap — file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142231"/>
            <a:ext cx="10442448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THE SHAREPOINT URL / SHARED WORKBOOK LOCATION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138928"/>
            <a:ext cx="10735056" cy="731520"/>
          </a:xfrm>
          <a:prstGeom prst="roundRect">
            <a:avLst/>
          </a:prstGeom>
          <a:solidFill>
            <a:srgbClr val="E6F7F5"/>
          </a:solidFill>
          <a:ln w="12700">
            <a:solidFill>
              <a:srgbClr val="008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266944"/>
            <a:ext cx="1042416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320" b="0" i="0">
                <a:solidFill>
                  <a:srgbClr val="212F40"/>
                </a:solidFill>
                <a:latin typeface="Aptos"/>
              </a:rPr>
              <a:t>The central SharePoint recap is a separate shared file. It must be updated using the generated Excel figures; uploading the XLSX alone is not the reporting step.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Word report → publish on Confluence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" y="1170432"/>
            <a:ext cx="5266944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" y="1335024"/>
            <a:ext cx="640080" cy="384048"/>
          </a:xfrm>
          <a:prstGeom prst="round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399032"/>
            <a:ext cx="5303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8" y="1353312"/>
            <a:ext cx="4050791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630" b="1" i="0">
                <a:solidFill>
                  <a:srgbClr val="0D2039"/>
                </a:solidFill>
                <a:latin typeface="Aptos"/>
              </a:rPr>
              <a:t>Generate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764792"/>
            <a:ext cx="400507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0" i="0">
                <a:solidFill>
                  <a:srgbClr val="212F40"/>
                </a:solidFill>
                <a:latin typeface="Aptos"/>
              </a:rPr>
              <a:t>Confirm perf_result_output.docx was created from perf_template.docx.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170432"/>
            <a:ext cx="5266944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8" y="1335024"/>
            <a:ext cx="640080" cy="384048"/>
          </a:xfrm>
          <a:prstGeom prst="round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399032"/>
            <a:ext cx="5303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1353312"/>
            <a:ext cx="4050791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630" b="1" i="0">
                <a:solidFill>
                  <a:srgbClr val="0D2039"/>
                </a:solidFill>
                <a:latin typeface="Aptos"/>
              </a:rPr>
              <a:t>Open Confluence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764792"/>
            <a:ext cx="400507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0" i="0">
                <a:solidFill>
                  <a:srgbClr val="212F40"/>
                </a:solidFill>
                <a:latin typeface="Aptos"/>
              </a:rPr>
              <a:t>Go to the performance test report page for the relevant campaign.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" y="2779776"/>
            <a:ext cx="5266944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" y="2944368"/>
            <a:ext cx="640080" cy="384048"/>
          </a:xfrm>
          <a:prstGeom prst="round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008376"/>
            <a:ext cx="5303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2962656"/>
            <a:ext cx="4050791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630" b="1" i="0">
                <a:solidFill>
                  <a:srgbClr val="0D2039"/>
                </a:solidFill>
                <a:latin typeface="Aptos"/>
              </a:rPr>
              <a:t>Upload the document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72768" y="3374136"/>
            <a:ext cx="400507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0" i="0">
                <a:solidFill>
                  <a:srgbClr val="212F40"/>
                </a:solidFill>
                <a:latin typeface="Aptos"/>
              </a:rPr>
              <a:t>Attach the generated Word file and insert a link/file reference into the page.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81344" y="2779776"/>
            <a:ext cx="5266944" cy="13624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27648" y="2944368"/>
            <a:ext cx="640080" cy="384048"/>
          </a:xfrm>
          <a:prstGeom prst="round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3008376"/>
            <a:ext cx="530352" cy="26517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2962656"/>
            <a:ext cx="4050791" cy="3017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630" b="1" i="0">
                <a:solidFill>
                  <a:srgbClr val="0D2039"/>
                </a:solidFill>
                <a:latin typeface="Aptos"/>
              </a:rPr>
              <a:t>Publish and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3374136"/>
            <a:ext cx="4005072" cy="5760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0" i="0">
                <a:solidFill>
                  <a:srgbClr val="212F40"/>
                </a:solidFill>
                <a:latin typeface="Aptos"/>
              </a:rPr>
              <a:t>Save/publish the page; confirm the attachment and report are accessible.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13232" y="4599432"/>
            <a:ext cx="10735056" cy="996696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700016"/>
            <a:ext cx="10442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Target Confluence performance report page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" y="4992624"/>
            <a:ext cx="10442448" cy="5394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TARGET PAGE URL HERE — WORD REPORT ATTACHMENT / INSERTION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24728"/>
            <a:ext cx="10332720" cy="3566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70" b="0" i="0">
                <a:solidFill>
                  <a:srgbClr val="5B6D82"/>
                </a:solidFill>
                <a:latin typeface="Aptos"/>
              </a:rPr>
              <a:t>The generator user guide is documentation; it is not the target page for uploading each test campaign report.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1 / HANDOVER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File locations and links to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1188720"/>
            <a:ext cx="5303520" cy="1124712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289304"/>
            <a:ext cx="5010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JMeter launch script + test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581912"/>
            <a:ext cx="501091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FIXED LAUNCHER (.BAT/.CMD) AND .JMX PATHS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188720"/>
            <a:ext cx="5303520" cy="1124712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289304"/>
            <a:ext cx="5010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400">
                <a:solidFill>
                  <a:srgbClr val="232B37"/>
                </a:solidFill>
                <a:latin typeface="Aptos"/>
              </a:rPr>
              <a:t>ProxyUser.properties + SSL certificate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81912"/>
            <a:ext cx="501091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50">
                <a:solidFill>
                  <a:srgbClr val="232B37"/>
                </a:solidFill>
                <a:latin typeface="Aptos"/>
              </a:rPr>
              <a:t>INSERT PROXY FILE PATH AND SSL CERTIFICATE / KEYSTORE LOCATION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551176"/>
            <a:ext cx="5303520" cy="1124712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51760"/>
            <a:ext cx="5010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BNS policy properties — fixed SharePoint location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2944368"/>
            <a:ext cx="501091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FIXED SHAREPOINT / SYNCED PATH TO bnspolicy.properties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551176"/>
            <a:ext cx="5303520" cy="1124712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2651760"/>
            <a:ext cx="5010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Shared SharePoint performance recap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2944368"/>
            <a:ext cx="501091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THE SHARED RECAP WORKBOOK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13632"/>
            <a:ext cx="5303520" cy="1124712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014216"/>
            <a:ext cx="50109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Confluence report page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306824"/>
            <a:ext cx="5010912" cy="6675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PAGE WHERE THE GENERATED WORD REPORT IS ATTACHED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44768" y="3913632"/>
            <a:ext cx="5303520" cy="1124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4768" y="3913632"/>
            <a:ext cx="59436" cy="112471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18504" y="4069080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Recap Generator user guide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4489704"/>
            <a:ext cx="4956048" cy="484632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280" b="0">
                <a:solidFill>
                  <a:srgbClr val="212F40"/>
                </a:solidFill>
                <a:latin typeface="Aptos"/>
              </a:rPr>
              <a:t>Confluence: Performance Recap Generator – User Guide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431536"/>
            <a:ext cx="10716768" cy="594360"/>
          </a:xfrm>
          <a:prstGeom prst="roundRect">
            <a:avLst/>
          </a:prstGeom>
          <a:solidFill>
            <a:srgbClr val="FFF5E7"/>
          </a:solidFill>
          <a:ln w="12700">
            <a:solidFill>
              <a:srgbClr val="CD75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" y="5559552"/>
            <a:ext cx="10405872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250" b="0" i="0">
                <a:solidFill>
                  <a:srgbClr val="212F40"/>
                </a:solidFill>
                <a:latin typeface="Aptos"/>
              </a:rPr>
              <a:t>BNS policy location is now a fixed reference — do not describe it as a parameter externalized at JMeter startup.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0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749808"/>
            <a:ext cx="10954512" cy="5376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749808"/>
            <a:ext cx="137160" cy="537667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280160"/>
            <a:ext cx="182880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4300" b="1" i="0">
                <a:solidFill>
                  <a:srgbClr val="008B8B"/>
                </a:solidFill>
                <a:latin typeface="Apto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" y="2221992"/>
            <a:ext cx="3931920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800" b="1" i="0">
                <a:solidFill>
                  <a:srgbClr val="2566B2"/>
                </a:solidFill>
                <a:latin typeface="Aptos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2788920"/>
            <a:ext cx="9875520" cy="12435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3000" b="1" i="0">
                <a:solidFill>
                  <a:srgbClr val="0D2039"/>
                </a:solidFill>
                <a:latin typeface="Aptos"/>
              </a:rPr>
              <a:t>Claims FPV2 architecture
and flow follow-up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4453128"/>
            <a:ext cx="93268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00" b="0" i="0">
                <a:solidFill>
                  <a:srgbClr val="5B6D82"/>
                </a:solidFill>
                <a:latin typeface="Aptos"/>
              </a:rPr>
              <a:t>Reference diagram and operational status matrix.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5760720"/>
            <a:ext cx="45720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900" b="0" i="0">
                <a:solidFill>
                  <a:srgbClr val="5B6D82"/>
                </a:solidFill>
                <a:latin typeface="Aptos"/>
              </a:rPr>
              <a:t>EIKO / TECHNICAL HANDOVER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2 /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Claims FPV2 — full-size reference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005840"/>
            <a:ext cx="10863072" cy="2651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ctr"/>
            <a:r>
              <a:rPr sz="1260" b="0" i="0">
                <a:solidFill>
                  <a:srgbClr val="CD7521"/>
                </a:solidFill>
                <a:latin typeface="Aptos"/>
              </a:rPr>
              <a:t>Temporary screenshot supplied for handover; replace with the updated high-resolution flow_matrix.png when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1344168"/>
            <a:ext cx="11384280" cy="491032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G_7508(2)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3747" y="1371600"/>
            <a:ext cx="858316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2104"/>
          </a:xfrm>
          <a:prstGeom prst="rect">
            <a:avLst/>
          </a:prstGeom>
          <a:solidFill>
            <a:srgbClr val="0D2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83210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00584"/>
            <a:ext cx="97840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000" b="1" i="0">
                <a:solidFill>
                  <a:srgbClr val="84C4CF"/>
                </a:solidFill>
                <a:latin typeface="Aptos"/>
              </a:rPr>
              <a:t>PART 2 / OPERATIONAL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20040"/>
            <a:ext cx="1088136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2270" b="1" i="0">
                <a:solidFill>
                  <a:srgbClr val="FFFFFF"/>
                </a:solidFill>
                <a:latin typeface="Aptos"/>
              </a:rPr>
              <a:t>Using the Claims FPV2 reference material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20272" y="292608"/>
            <a:ext cx="411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r"/>
            <a:r>
              <a:rPr sz="1500" b="1" i="0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37960"/>
            <a:ext cx="292608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880" b="0" i="0">
                <a:solidFill>
                  <a:srgbClr val="5B6D82"/>
                </a:solidFill>
                <a:latin typeface="Aptos"/>
              </a:rPr>
              <a:t>EIKO  /  TECHNICAL HANDOVER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1384280" y="6537960"/>
            <a:ext cx="329184" cy="33832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325880"/>
            <a:ext cx="5248656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1325880"/>
            <a:ext cx="59436" cy="2578608"/>
          </a:xfrm>
          <a:prstGeom prst="rect">
            <a:avLst/>
          </a:prstGeom>
          <a:solidFill>
            <a:srgbClr val="2566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81328"/>
            <a:ext cx="4882896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Architecture / flow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01952"/>
            <a:ext cx="4901184" cy="1938528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90" b="0">
                <a:solidFill>
                  <a:srgbClr val="212F40"/>
                </a:solidFill>
                <a:latin typeface="Aptos"/>
              </a:rPr>
              <a:t>Use the stand-alone diagram slide for the technical overview.</a:t>
            </a:r>
          </a:p>
          <a:p>
            <a:pPr>
              <a:spcAft>
                <a:spcPts val="1000"/>
              </a:spcAft>
            </a:pPr>
            <a:r>
              <a:rPr sz="1390" b="0">
                <a:solidFill>
                  <a:srgbClr val="212F40"/>
                </a:solidFill>
                <a:latin typeface="Aptos"/>
              </a:rPr>
              <a:t>Replace the interim image with a higher-resolution export.</a:t>
            </a:r>
          </a:p>
          <a:p>
            <a:pPr>
              <a:spcAft>
                <a:spcPts val="1000"/>
              </a:spcAft>
            </a:pPr>
            <a:r>
              <a:rPr sz="1390" b="0">
                <a:solidFill>
                  <a:srgbClr val="212F40"/>
                </a:solidFill>
                <a:latin typeface="Aptos"/>
              </a:rPr>
              <a:t>The drawing describes flows; it does not confirm that they are open.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325880"/>
            <a:ext cx="5285232" cy="2578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325880"/>
            <a:ext cx="59436" cy="2578608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1481328"/>
            <a:ext cx="4919472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540" b="1" i="0">
                <a:solidFill>
                  <a:srgbClr val="0D2039"/>
                </a:solidFill>
                <a:latin typeface="Aptos"/>
              </a:rPr>
              <a:t>Operational flow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1901952"/>
            <a:ext cx="4937760" cy="1938528"/>
          </a:xfrm>
          <a:prstGeom prst="rect">
            <a:avLst/>
          </a:prstGeom>
          <a:noFill/>
        </p:spPr>
        <p:txBody>
          <a:bodyPr wrap="square" lIns="22860" rIns="22860" tIns="22860" bIns="0">
            <a:spAutoFit/>
          </a:bodyPr>
          <a:lstStyle/>
          <a:p>
            <a:pPr>
              <a:spcAft>
                <a:spcPts val="1000"/>
              </a:spcAft>
            </a:pPr>
            <a:r>
              <a:rPr sz="1390" b="0">
                <a:solidFill>
                  <a:srgbClr val="212F40"/>
                </a:solidFill>
                <a:latin typeface="Aptos"/>
              </a:rPr>
              <a:t>Use the shared status matrix as the source of truth.</a:t>
            </a:r>
          </a:p>
          <a:p>
            <a:pPr>
              <a:spcAft>
                <a:spcPts val="1000"/>
              </a:spcAft>
            </a:pPr>
            <a:r>
              <a:rPr sz="1390" b="0">
                <a:solidFill>
                  <a:srgbClr val="212F40"/>
                </a:solidFill>
                <a:latin typeface="Aptos"/>
              </a:rPr>
              <a:t>Track each flow: open / in progress / pending.</a:t>
            </a:r>
          </a:p>
          <a:p>
            <a:pPr>
              <a:spcAft>
                <a:spcPts val="1000"/>
              </a:spcAft>
            </a:pPr>
            <a:r>
              <a:rPr sz="1390" b="0">
                <a:solidFill>
                  <a:srgbClr val="212F40"/>
                </a:solidFill>
                <a:latin typeface="Aptos"/>
              </a:rPr>
              <a:t>Keep owners, tickets, blockers, and updates synchronized.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370832"/>
            <a:ext cx="10735056" cy="1033271"/>
          </a:xfrm>
          <a:prstGeom prst="roundRect">
            <a:avLst/>
          </a:prstGeom>
          <a:solidFill>
            <a:srgbClr val="FDF9F2"/>
          </a:solidFill>
          <a:ln w="15875">
            <a:solidFill>
              <a:srgbClr val="DBA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4471416"/>
            <a:ext cx="1044244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280" b="1" i="0">
                <a:solidFill>
                  <a:srgbClr val="0D2039"/>
                </a:solidFill>
                <a:latin typeface="Aptos"/>
              </a:rPr>
              <a:t>Claims FPV2 flow status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764024"/>
            <a:ext cx="10442448" cy="576071"/>
          </a:xfrm>
          <a:prstGeom prst="rect">
            <a:avLst/>
          </a:prstGeom>
          <a:noFill/>
        </p:spPr>
        <p:txBody>
          <a:bodyPr wrap="square" lIns="18288" rIns="18288" tIns="18288" bIns="18288" anchor="t">
            <a:noAutofit/>
          </a:bodyPr>
          <a:lstStyle/>
          <a:p>
            <a:pPr algn="l"/>
            <a:r>
              <a:rPr sz="1100" b="0" i="0">
                <a:solidFill>
                  <a:srgbClr val="CD7521"/>
                </a:solidFill>
                <a:latin typeface="Aptos"/>
              </a:rPr>
              <a:t>INSERT LINK TO THE OPERATIONAL STATUS MATRIX HERE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596128"/>
            <a:ext cx="10735056" cy="530352"/>
          </a:xfrm>
          <a:prstGeom prst="roundRect">
            <a:avLst/>
          </a:prstGeom>
          <a:solidFill>
            <a:srgbClr val="EBF3FC"/>
          </a:solidFill>
          <a:ln w="12700">
            <a:solidFill>
              <a:srgbClr val="2566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724144"/>
            <a:ext cx="10424160" cy="34747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noAutofit/>
          </a:bodyPr>
          <a:lstStyle/>
          <a:p>
            <a:pPr algn="l"/>
            <a:r>
              <a:rPr sz="1280" b="0" i="0">
                <a:solidFill>
                  <a:srgbClr val="212F40"/>
                </a:solidFill>
                <a:latin typeface="Aptos"/>
              </a:rPr>
              <a:t>Final handover: keep the architecture picture and the status matrix together, but treat them as two distinct 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