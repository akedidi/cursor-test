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94360"/>
            <a:ext cx="10972800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594360"/>
            <a:ext cx="10972800" cy="146304"/>
          </a:xfrm>
          <a:prstGeom prst="rect">
            <a:avLst/>
          </a:prstGeom>
          <a:solidFill>
            <a:srgbClr val="28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33C"/>
                </a:solidFill>
                <a:latin typeface="Aptos"/>
              </a:rPr>
              <a:t>MISSION HANDOVER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32B37"/>
                </a:solidFill>
                <a:latin typeface="Aptos"/>
              </a:rPr>
              <a:t>JMeter Performance Testing
and Claims FPV2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63240"/>
            <a:ext cx="5669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B37"/>
                </a:solidFill>
                <a:latin typeface="Aptos"/>
              </a:rPr>
              <a:t>Two workstreams:
1. JMeter execution, API sequencing, and performance report generation
2. Claims FPV2 reference flows and operational follow-up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234440"/>
            <a:ext cx="31089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234440"/>
            <a:ext cx="3108960" cy="73152"/>
          </a:xfrm>
          <a:prstGeom prst="rect">
            <a:avLst/>
          </a:prstGeom>
          <a:solidFill>
            <a:srgbClr val="00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91271" y="1344168"/>
            <a:ext cx="27797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2B37"/>
                </a:solidFill>
                <a:latin typeface="Aptos"/>
              </a:rPr>
              <a:t>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1271" y="1673352"/>
            <a:ext cx="277977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232B37"/>
                </a:solidFill>
                <a:latin typeface="Aptos"/>
              </a:rPr>
              <a:t>Provide a clean and practical handover of the scenarios, toolchain, deliverables, and reference flows.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2926080"/>
            <a:ext cx="3108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26679" y="2926080"/>
            <a:ext cx="3108960" cy="73152"/>
          </a:xfrm>
          <a:prstGeom prst="rect">
            <a:avLst/>
          </a:prstGeom>
          <a:solidFill>
            <a:srgbClr val="E88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91271" y="3035808"/>
            <a:ext cx="27797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2B37"/>
                </a:solidFill>
                <a:latin typeface="Aptos"/>
              </a:rPr>
              <a:t>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91271" y="3364992"/>
            <a:ext cx="277977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232B37"/>
                </a:solidFill>
                <a:latin typeface="Aptos"/>
              </a:rPr>
              <a:t>21 October 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4434840"/>
            <a:ext cx="31089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26679" y="4434840"/>
            <a:ext cx="3108960" cy="73152"/>
          </a:xfrm>
          <a:prstGeom prst="rect">
            <a:avLst/>
          </a:prstGeom>
          <a:solidFill>
            <a:srgbClr val="28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91271" y="4544568"/>
            <a:ext cx="27797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2B37"/>
                </a:solidFill>
                <a:latin typeface="Aptos"/>
              </a:rPr>
              <a:t>Audience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1271" y="4873752"/>
            <a:ext cx="277977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232B37"/>
                </a:solidFill>
                <a:latin typeface="Aptos"/>
              </a:rPr>
              <a:t>Project / support / technical follow-up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55664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707D"/>
                </a:solidFill>
                <a:latin typeface="Aptos"/>
              </a:rPr>
              <a:t>EIKO / HANDOVER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914400"/>
            <a:ext cx="10789920" cy="4983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17320"/>
            <a:ext cx="1188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860AA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4028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33C"/>
                </a:solidFill>
                <a:latin typeface="Aptos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07792"/>
            <a:ext cx="9692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32B37"/>
                </a:solidFill>
                <a:latin typeface="Aptos"/>
              </a:rPr>
              <a:t>JMeter performance tests &amp; performance report generation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069080"/>
            <a:ext cx="4206240" cy="91440"/>
          </a:xfrm>
          <a:prstGeom prst="rect">
            <a:avLst/>
          </a:prstGeom>
          <a:solidFill>
            <a:srgbClr val="00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3891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6707D"/>
                </a:solidFill>
                <a:latin typeface="Aptos"/>
              </a:rPr>
              <a:t>Clear, concise, and ready to hand over.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55664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707D"/>
                </a:solidFill>
                <a:latin typeface="Aptos"/>
              </a:rPr>
              <a:t>EIKO / HANDOVER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PART 1 / CAMPAIGN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JMeter campaign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109960" y="109728"/>
            <a:ext cx="658368" cy="457200"/>
          </a:xfrm>
          <a:prstGeom prst="roundRect">
            <a:avLst/>
          </a:prstGeom>
          <a:solidFill>
            <a:srgbClr val="28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707D"/>
                </a:solidFill>
                <a:latin typeface="Aptos"/>
              </a:rPr>
              <a:t>EIKO / HANDOVER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144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E8E"/>
                </a:solidFill>
                <a:latin typeface="Aptos"/>
              </a:rPr>
              <a:t>The same functional flow is reused for each load profile.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1234440" cy="1325880"/>
          </a:xfrm>
          <a:prstGeom prst="roundRect">
            <a:avLst/>
          </a:prstGeom>
          <a:solidFill>
            <a:srgbClr val="F5F8FC"/>
          </a:solidFill>
          <a:ln>
            <a:solidFill>
              <a:srgbClr val="008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64208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32B37"/>
                </a:solidFill>
                <a:latin typeface="Aptos"/>
              </a:rPr>
              <a:t>Warm-up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56816"/>
            <a:ext cx="11430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232B37"/>
                </a:solidFill>
                <a:latin typeface="Aptos"/>
              </a:rPr>
              <a:t>Generate Token + 10 Purchase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10512" y="1554480"/>
            <a:ext cx="71323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88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56232" y="1664208"/>
            <a:ext cx="6217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E88D31"/>
                </a:solidFill>
                <a:latin typeface="Aptos"/>
              </a:rPr>
              <a:t>Wait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56232" y="1956816"/>
            <a:ext cx="6217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32B37"/>
                </a:solidFill>
                <a:latin typeface="Aptos"/>
              </a:rPr>
              <a:t>2 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96896" y="1554480"/>
            <a:ext cx="1051560" cy="1325880"/>
          </a:xfrm>
          <a:prstGeom prst="roundRect">
            <a:avLst/>
          </a:prstGeom>
          <a:solidFill>
            <a:srgbClr val="F5F8FC"/>
          </a:solidFill>
          <a:ln>
            <a:solidFill>
              <a:srgbClr val="286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42616" y="1664208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32B37"/>
                </a:solidFill>
                <a:latin typeface="Aptos"/>
              </a:rPr>
              <a:t>Scenario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2616" y="1956816"/>
            <a:ext cx="960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232B37"/>
                </a:solidFill>
                <a:latin typeface="Aptos"/>
              </a:rPr>
              <a:t>1 user
Loop Count 50
Ramp-up 10 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21608" y="1554480"/>
            <a:ext cx="71323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88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67328" y="1664208"/>
            <a:ext cx="6217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E88D31"/>
                </a:solidFill>
                <a:latin typeface="Aptos"/>
              </a:rPr>
              <a:t>Wait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67328" y="1956816"/>
            <a:ext cx="6217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32B37"/>
                </a:solidFill>
                <a:latin typeface="Aptos"/>
              </a:rPr>
              <a:t>2 min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07992" y="1554480"/>
            <a:ext cx="1051560" cy="1325880"/>
          </a:xfrm>
          <a:prstGeom prst="roundRect">
            <a:avLst/>
          </a:prstGeom>
          <a:solidFill>
            <a:srgbClr val="F5F8FC"/>
          </a:solidFill>
          <a:ln>
            <a:solidFill>
              <a:srgbClr val="286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1664208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32B37"/>
                </a:solidFill>
                <a:latin typeface="Aptos"/>
              </a:rPr>
              <a:t>Scenario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1956816"/>
            <a:ext cx="960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232B37"/>
                </a:solidFill>
                <a:latin typeface="Aptos"/>
              </a:rPr>
              <a:t>2 users
Loop Count 50
Ramp-up 10 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32704" y="1554480"/>
            <a:ext cx="71323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88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78424" y="1664208"/>
            <a:ext cx="6217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E88D31"/>
                </a:solidFill>
                <a:latin typeface="Aptos"/>
              </a:rPr>
              <a:t>Wait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78424" y="1956816"/>
            <a:ext cx="6217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32B37"/>
                </a:solidFill>
                <a:latin typeface="Aptos"/>
              </a:rPr>
              <a:t>2 min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19088" y="1554480"/>
            <a:ext cx="1051560" cy="1325880"/>
          </a:xfrm>
          <a:prstGeom prst="roundRect">
            <a:avLst/>
          </a:prstGeom>
          <a:solidFill>
            <a:srgbClr val="F5F8FC"/>
          </a:solidFill>
          <a:ln>
            <a:solidFill>
              <a:srgbClr val="286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4808" y="1664208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32B37"/>
                </a:solidFill>
                <a:latin typeface="Aptos"/>
              </a:rPr>
              <a:t>Scenario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808" y="1956816"/>
            <a:ext cx="960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232B37"/>
                </a:solidFill>
                <a:latin typeface="Aptos"/>
              </a:rPr>
              <a:t>4 users
Loop Count 50
Ramp-up 10 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43800" y="1554480"/>
            <a:ext cx="71323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88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0" y="1664208"/>
            <a:ext cx="6217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E88D31"/>
                </a:solidFill>
                <a:latin typeface="Aptos"/>
              </a:rPr>
              <a:t>Wait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1956816"/>
            <a:ext cx="6217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32B37"/>
                </a:solidFill>
                <a:latin typeface="Aptos"/>
              </a:rPr>
              <a:t>2 min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30184" y="1554480"/>
            <a:ext cx="1051560" cy="1325880"/>
          </a:xfrm>
          <a:prstGeom prst="roundRect">
            <a:avLst/>
          </a:prstGeom>
          <a:solidFill>
            <a:srgbClr val="F5F8FC"/>
          </a:solidFill>
          <a:ln>
            <a:solidFill>
              <a:srgbClr val="286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75904" y="1664208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32B37"/>
                </a:solidFill>
                <a:latin typeface="Aptos"/>
              </a:rPr>
              <a:t>Scenario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75904" y="1956816"/>
            <a:ext cx="960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232B37"/>
                </a:solidFill>
                <a:latin typeface="Aptos"/>
              </a:rPr>
              <a:t>8 users
Loop Count 50
Ramp-up 10 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54896" y="1554480"/>
            <a:ext cx="71323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88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0616" y="1664208"/>
            <a:ext cx="6217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E88D31"/>
                </a:solidFill>
                <a:latin typeface="Aptos"/>
              </a:rPr>
              <a:t>Wait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00616" y="1956816"/>
            <a:ext cx="6217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32B37"/>
                </a:solidFill>
                <a:latin typeface="Aptos"/>
              </a:rPr>
              <a:t>2 min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241280" y="1554480"/>
            <a:ext cx="1143000" cy="1325880"/>
          </a:xfrm>
          <a:prstGeom prst="roundRect">
            <a:avLst/>
          </a:prstGeom>
          <a:solidFill>
            <a:srgbClr val="F5F8FC"/>
          </a:solidFill>
          <a:ln>
            <a:solidFill>
              <a:srgbClr val="286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7000" y="1664208"/>
            <a:ext cx="1051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32B37"/>
                </a:solidFill>
                <a:latin typeface="Aptos"/>
              </a:rPr>
              <a:t>Scenario 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0" y="1956816"/>
            <a:ext cx="1051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232B37"/>
                </a:solidFill>
                <a:latin typeface="Aptos"/>
              </a:rPr>
              <a:t>12 users
Loop Count 50
Ramp-up 10 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737360" y="2057400"/>
            <a:ext cx="73152" cy="0"/>
          </a:xfrm>
          <a:prstGeom prst="line">
            <a:avLst/>
          </a:prstGeom>
          <a:ln w="20320">
            <a:solidFill>
              <a:srgbClr val="66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523744" y="2057400"/>
            <a:ext cx="73152" cy="0"/>
          </a:xfrm>
          <a:prstGeom prst="line">
            <a:avLst/>
          </a:prstGeom>
          <a:ln w="20320">
            <a:solidFill>
              <a:srgbClr val="66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648456" y="2057400"/>
            <a:ext cx="73152" cy="0"/>
          </a:xfrm>
          <a:prstGeom prst="line">
            <a:avLst/>
          </a:prstGeom>
          <a:ln w="20320">
            <a:solidFill>
              <a:srgbClr val="66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4840" y="2057400"/>
            <a:ext cx="73152" cy="0"/>
          </a:xfrm>
          <a:prstGeom prst="line">
            <a:avLst/>
          </a:prstGeom>
          <a:ln w="20320">
            <a:solidFill>
              <a:srgbClr val="66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559552" y="2057400"/>
            <a:ext cx="73152" cy="0"/>
          </a:xfrm>
          <a:prstGeom prst="line">
            <a:avLst/>
          </a:prstGeom>
          <a:ln w="20320">
            <a:solidFill>
              <a:srgbClr val="66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345936" y="2057400"/>
            <a:ext cx="73152" cy="0"/>
          </a:xfrm>
          <a:prstGeom prst="line">
            <a:avLst/>
          </a:prstGeom>
          <a:ln w="20320">
            <a:solidFill>
              <a:srgbClr val="66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470648" y="2057400"/>
            <a:ext cx="73152" cy="0"/>
          </a:xfrm>
          <a:prstGeom prst="line">
            <a:avLst/>
          </a:prstGeom>
          <a:ln w="20320">
            <a:solidFill>
              <a:srgbClr val="66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257032" y="2057400"/>
            <a:ext cx="73152" cy="0"/>
          </a:xfrm>
          <a:prstGeom prst="line">
            <a:avLst/>
          </a:prstGeom>
          <a:ln w="20320">
            <a:solidFill>
              <a:srgbClr val="66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381744" y="2057400"/>
            <a:ext cx="73152" cy="0"/>
          </a:xfrm>
          <a:prstGeom prst="line">
            <a:avLst/>
          </a:prstGeom>
          <a:ln w="20320">
            <a:solidFill>
              <a:srgbClr val="66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168128" y="2057400"/>
            <a:ext cx="73152" cy="0"/>
          </a:xfrm>
          <a:prstGeom prst="line">
            <a:avLst/>
          </a:prstGeom>
          <a:ln w="20320">
            <a:solidFill>
              <a:srgbClr val="66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731520" y="3657600"/>
            <a:ext cx="374903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22960" y="3749040"/>
            <a:ext cx="3566159" cy="384048"/>
          </a:xfrm>
          <a:prstGeom prst="roundRect">
            <a:avLst/>
          </a:prstGeom>
          <a:solidFill>
            <a:srgbClr val="28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Key message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6112" y="4251960"/>
            <a:ext cx="341985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32B37"/>
                </a:solidFill>
                <a:latin typeface="Aptos"/>
              </a:rPr>
              <a:t>• The campaign starts with a warm-up phase to heat the instance.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32B37"/>
                </a:solidFill>
                <a:latin typeface="Aptos"/>
              </a:rPr>
              <a:t>• There is a 2-minute waiting time between every scenario.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663440" y="3657600"/>
            <a:ext cx="3200400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754880" y="3749040"/>
            <a:ext cx="3017520" cy="384048"/>
          </a:xfrm>
          <a:prstGeom prst="roundRect">
            <a:avLst/>
          </a:prstGeom>
          <a:solidFill>
            <a:srgbClr val="00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Scenario logic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28032" y="4251960"/>
            <a:ext cx="28712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32B37"/>
                </a:solidFill>
                <a:latin typeface="Aptos"/>
              </a:rPr>
              <a:t>• Only the number of threads changes from one scenario to another.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32B37"/>
                </a:solidFill>
                <a:latin typeface="Aptos"/>
              </a:rPr>
              <a:t>• The API sequence remains identical.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046720" y="3657600"/>
            <a:ext cx="3383280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138160" y="3749040"/>
            <a:ext cx="3200400" cy="384048"/>
          </a:xfrm>
          <a:prstGeom prst="roundRect">
            <a:avLst/>
          </a:prstGeom>
          <a:solidFill>
            <a:srgbClr val="E88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Configuration note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11312" y="4251960"/>
            <a:ext cx="305409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232B37"/>
                </a:solidFill>
                <a:latin typeface="Aptos"/>
              </a:rPr>
              <a:t>• Proxy settings are externalized.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32B37"/>
                </a:solidFill>
                <a:latin typeface="Aptos"/>
              </a:rPr>
              <a:t>• Loop Count = 50 and Ramp-up = 10 seconds for all five scenarios.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5577840"/>
            <a:ext cx="10789920" cy="411480"/>
          </a:xfrm>
          <a:prstGeom prst="rect">
            <a:avLst/>
          </a:prstGeom>
          <a:solidFill>
            <a:srgbClr val="FFF7EB"/>
          </a:solidFill>
          <a:ln>
            <a:solidFill>
              <a:srgbClr val="E88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2960" y="5632704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784E12"/>
                </a:solidFill>
                <a:latin typeface="Aptos"/>
              </a:rPr>
              <a:t>Important: a dedicated 2-minute waiting period is inserted between each scenario.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22376"/>
          </a:xfrm>
          <a:prstGeom prst="rect">
            <a:avLst/>
          </a:prstGeom>
          <a:solidFill>
            <a:srgbClr val="0E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9768" y="91440"/>
            <a:ext cx="8229600" cy="19202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ptos"/>
              </a:rPr>
              <a:t>PART 1  / 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265176"/>
            <a:ext cx="10058400" cy="35661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API sequence — sequential flow with conditional steps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82528" y="128016"/>
            <a:ext cx="658368" cy="420624"/>
          </a:xfrm>
          <a:prstGeom prst="roundRect">
            <a:avLst/>
          </a:prstGeom>
          <a:solidFill>
            <a:srgbClr val="27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82528" y="173736"/>
            <a:ext cx="658368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23544"/>
            <a:ext cx="11018520" cy="35661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410" b="1">
                <a:solidFill>
                  <a:srgbClr val="008E8E"/>
                </a:solidFill>
                <a:latin typeface="Aptos"/>
              </a:rPr>
              <a:t>One sequential scenario: Sale_BNS runs after the CPL sequence completes — or immediately if Purchase_Cpl fails.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7" y="1545336"/>
            <a:ext cx="2286000" cy="2057400"/>
          </a:xfrm>
          <a:prstGeom prst="roundRect">
            <a:avLst/>
          </a:prstGeom>
          <a:solidFill>
            <a:srgbClr val="F1F6FC"/>
          </a:solidFill>
          <a:ln w="12700"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1618488"/>
            <a:ext cx="1920240" cy="2103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19" b="1">
                <a:solidFill>
                  <a:srgbClr val="2763AB"/>
                </a:solidFill>
                <a:latin typeface="Aptos"/>
              </a:rPr>
              <a:t>THREAD EXECUTION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639312"/>
            <a:ext cx="1920240" cy="2148840"/>
          </a:xfrm>
          <a:prstGeom prst="roundRect">
            <a:avLst/>
          </a:prstGeom>
          <a:solidFill>
            <a:srgbClr val="F1F6FC"/>
          </a:solidFill>
          <a:ln w="12700"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3675887"/>
            <a:ext cx="621792" cy="2103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19" b="1">
                <a:solidFill>
                  <a:srgbClr val="2763AB"/>
                </a:solidFill>
                <a:latin typeface="Aptos"/>
              </a:rPr>
              <a:t>IF #1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9864" y="3675887"/>
            <a:ext cx="420624" cy="2103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19" b="1">
                <a:solidFill>
                  <a:srgbClr val="1C8D66"/>
                </a:solidFill>
                <a:latin typeface="Aptos"/>
              </a:rPr>
              <a:t>YES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96328" y="4837176"/>
            <a:ext cx="4809744" cy="1042415"/>
          </a:xfrm>
          <a:prstGeom prst="roundRect">
            <a:avLst/>
          </a:prstGeom>
          <a:solidFill>
            <a:srgbClr val="EFFAF7"/>
          </a:solidFill>
          <a:ln w="12700">
            <a:solidFill>
              <a:srgbClr val="D1E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33488" y="4882896"/>
            <a:ext cx="4443984" cy="2103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00" b="1">
                <a:solidFill>
                  <a:srgbClr val="008E8E"/>
                </a:solidFill>
                <a:latin typeface="Aptos"/>
              </a:rPr>
              <a:t>BNS — SEQUENTIAL CONTINUATION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4992624"/>
            <a:ext cx="731520" cy="2103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00" b="1">
                <a:solidFill>
                  <a:srgbClr val="008E8E"/>
                </a:solidFill>
                <a:latin typeface="Aptos"/>
              </a:rPr>
              <a:t>IF #2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1947672"/>
            <a:ext cx="1892807" cy="585216"/>
          </a:xfrm>
          <a:prstGeom prst="roundRect">
            <a:avLst/>
          </a:prstGeom>
          <a:solidFill>
            <a:srgbClr val="E8F9F7"/>
          </a:solidFill>
          <a:ln w="24130">
            <a:solidFill>
              <a:srgbClr val="008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1965960"/>
            <a:ext cx="1783079" cy="548640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/>
            <a:r>
              <a:rPr sz="1180" b="1">
                <a:solidFill>
                  <a:srgbClr val="1D2B3B"/>
                </a:solidFill>
                <a:latin typeface="Aptos"/>
              </a:rPr>
              <a:t>Generate Token
(Once Only)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2898648"/>
            <a:ext cx="1892807" cy="557784"/>
          </a:xfrm>
          <a:prstGeom prst="roundRect">
            <a:avLst/>
          </a:prstGeom>
          <a:solidFill>
            <a:srgbClr val="FFFFFF"/>
          </a:solidFill>
          <a:ln w="24130">
            <a:solidFill>
              <a:srgbClr val="0E22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2916936"/>
            <a:ext cx="1783079" cy="521207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/>
            <a:r>
              <a:rPr sz="1400" b="1">
                <a:solidFill>
                  <a:srgbClr val="1D2B3B"/>
                </a:solidFill>
                <a:latin typeface="Aptos"/>
              </a:rPr>
              <a:t>Loop iteration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26664" y="2898648"/>
            <a:ext cx="1435608" cy="557784"/>
          </a:xfrm>
          <a:prstGeom prst="roundRect">
            <a:avLst/>
          </a:prstGeom>
          <a:solidFill>
            <a:srgbClr val="FFFFFF"/>
          </a:solidFill>
          <a:ln w="24130">
            <a:solidFill>
              <a:srgbClr val="2763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81528" y="2916936"/>
            <a:ext cx="1325880" cy="521207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/>
            <a:r>
              <a:rPr sz="1250" b="1">
                <a:solidFill>
                  <a:srgbClr val="1D2B3B"/>
                </a:solidFill>
                <a:latin typeface="Aptos"/>
              </a:rPr>
              <a:t>Purchase_Cpl</a:t>
            </a:r>
          </a:p>
        </p:txBody>
      </p:sp>
      <p:sp>
        <p:nvSpPr>
          <p:cNvPr id="23" name="Diamond 22"/>
          <p:cNvSpPr/>
          <p:nvPr/>
        </p:nvSpPr>
        <p:spPr>
          <a:xfrm>
            <a:off x="4855464" y="2775204"/>
            <a:ext cx="1069848" cy="804672"/>
          </a:xfrm>
          <a:prstGeom prst="diamond">
            <a:avLst/>
          </a:prstGeom>
          <a:solidFill>
            <a:srgbClr val="FFFFFF"/>
          </a:solidFill>
          <a:ln w="25400">
            <a:solidFill>
              <a:srgbClr val="DE81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2990088"/>
            <a:ext cx="740664" cy="329184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/>
            <a:r>
              <a:rPr sz="1160" b="1">
                <a:solidFill>
                  <a:srgbClr val="1D2B3B"/>
                </a:solidFill>
                <a:latin typeface="Aptos"/>
              </a:rPr>
              <a:t>Purchase
OK?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0016" y="3950208"/>
            <a:ext cx="1572768" cy="466344"/>
          </a:xfrm>
          <a:prstGeom prst="roundRect">
            <a:avLst/>
          </a:prstGeom>
          <a:solidFill>
            <a:srgbClr val="FFFFFF"/>
          </a:solidFill>
          <a:ln w="24130">
            <a:solidFill>
              <a:srgbClr val="2763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79" y="3968496"/>
            <a:ext cx="1463040" cy="42976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/>
            <a:r>
              <a:rPr sz="1270" b="1">
                <a:solidFill>
                  <a:srgbClr val="1D2B3B"/>
                </a:solidFill>
                <a:latin typeface="Aptos"/>
              </a:rPr>
              <a:t>Policy_Cpl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00016" y="4590288"/>
            <a:ext cx="1572768" cy="466344"/>
          </a:xfrm>
          <a:prstGeom prst="roundRect">
            <a:avLst/>
          </a:prstGeom>
          <a:solidFill>
            <a:srgbClr val="FFFFFF"/>
          </a:solidFill>
          <a:ln w="24130">
            <a:solidFill>
              <a:srgbClr val="2763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79" y="4608575"/>
            <a:ext cx="1463040" cy="42976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/>
            <a:r>
              <a:rPr sz="1180" b="1">
                <a:solidFill>
                  <a:srgbClr val="1D2B3B"/>
                </a:solidFill>
                <a:latin typeface="Aptos"/>
              </a:rPr>
              <a:t>Generate PDF_Cpl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00016" y="5230368"/>
            <a:ext cx="1572768" cy="466344"/>
          </a:xfrm>
          <a:prstGeom prst="roundRect">
            <a:avLst/>
          </a:prstGeom>
          <a:solidFill>
            <a:srgbClr val="FFFFFF"/>
          </a:solidFill>
          <a:ln w="24130">
            <a:solidFill>
              <a:srgbClr val="2763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79" y="5248655"/>
            <a:ext cx="1463040" cy="42976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/>
            <a:r>
              <a:rPr sz="1270" b="1">
                <a:solidFill>
                  <a:srgbClr val="1D2B3B"/>
                </a:solidFill>
                <a:latin typeface="Aptos"/>
              </a:rPr>
              <a:t>Cancel_Cpl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06640" y="5230368"/>
            <a:ext cx="1426464" cy="466344"/>
          </a:xfrm>
          <a:prstGeom prst="roundRect">
            <a:avLst/>
          </a:prstGeom>
          <a:solidFill>
            <a:srgbClr val="FFFFFF"/>
          </a:solidFill>
          <a:ln w="24130">
            <a:solidFill>
              <a:srgbClr val="008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61504" y="5248655"/>
            <a:ext cx="1316736" cy="42976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/>
            <a:r>
              <a:rPr sz="1300" b="1">
                <a:solidFill>
                  <a:srgbClr val="1D2B3B"/>
                </a:solidFill>
                <a:latin typeface="Aptos"/>
              </a:rPr>
              <a:t>Sale_BNS</a:t>
            </a:r>
          </a:p>
        </p:txBody>
      </p:sp>
      <p:sp>
        <p:nvSpPr>
          <p:cNvPr id="33" name="Diamond 32"/>
          <p:cNvSpPr/>
          <p:nvPr/>
        </p:nvSpPr>
        <p:spPr>
          <a:xfrm>
            <a:off x="9134856" y="5138928"/>
            <a:ext cx="1005840" cy="667512"/>
          </a:xfrm>
          <a:prstGeom prst="diamond">
            <a:avLst/>
          </a:prstGeom>
          <a:solidFill>
            <a:srgbClr val="FFFFFF"/>
          </a:solidFill>
          <a:ln w="25400">
            <a:solidFill>
              <a:srgbClr val="DE81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17736" y="5330952"/>
            <a:ext cx="649224" cy="29260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/>
            <a:r>
              <a:rPr sz="1110" b="1">
                <a:solidFill>
                  <a:srgbClr val="1D2B3B"/>
                </a:solidFill>
                <a:latin typeface="Aptos"/>
              </a:rPr>
              <a:t>Sale
OK?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33304" y="5230368"/>
            <a:ext cx="1417320" cy="466344"/>
          </a:xfrm>
          <a:prstGeom prst="roundRect">
            <a:avLst/>
          </a:prstGeom>
          <a:solidFill>
            <a:srgbClr val="FFFFFF"/>
          </a:solidFill>
          <a:ln w="24130">
            <a:solidFill>
              <a:srgbClr val="1C8D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88168" y="5248655"/>
            <a:ext cx="1307592" cy="429768"/>
          </a:xfrm>
          <a:prstGeom prst="rect">
            <a:avLst/>
          </a:prstGeom>
          <a:noFill/>
        </p:spPr>
        <p:txBody>
          <a:bodyPr wrap="square" anchor="ctr" lIns="9144" rIns="9144" tIns="9144" bIns="9144">
            <a:spAutoFit/>
          </a:bodyPr>
          <a:lstStyle/>
          <a:p>
            <a:pPr algn="ctr"/>
            <a:r>
              <a:rPr sz="1050" b="1">
                <a:solidFill>
                  <a:srgbClr val="1D2B3B"/>
                </a:solidFill>
                <a:latin typeface="Aptos"/>
              </a:rPr>
              <a:t>Cancellation_BNS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664208" y="2532888"/>
            <a:ext cx="0" cy="365760"/>
          </a:xfrm>
          <a:prstGeom prst="line">
            <a:avLst/>
          </a:prstGeom>
          <a:ln w="30480">
            <a:solidFill>
              <a:srgbClr val="008E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606040" y="3172968"/>
            <a:ext cx="420624" cy="0"/>
          </a:xfrm>
          <a:prstGeom prst="line">
            <a:avLst/>
          </a:prstGeom>
          <a:ln w="32384">
            <a:solidFill>
              <a:srgbClr val="0E223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462272" y="3172968"/>
            <a:ext cx="393192" cy="0"/>
          </a:xfrm>
          <a:prstGeom prst="line">
            <a:avLst/>
          </a:prstGeom>
          <a:ln w="32384">
            <a:solidFill>
              <a:srgbClr val="2763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390388" y="3579876"/>
            <a:ext cx="0" cy="370332"/>
          </a:xfrm>
          <a:prstGeom prst="line">
            <a:avLst/>
          </a:prstGeom>
          <a:ln w="35560">
            <a:solidFill>
              <a:srgbClr val="1C8D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486400" y="4416552"/>
            <a:ext cx="0" cy="173736"/>
          </a:xfrm>
          <a:prstGeom prst="line">
            <a:avLst/>
          </a:prstGeom>
          <a:ln w="33655">
            <a:solidFill>
              <a:srgbClr val="2763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486400" y="5056632"/>
            <a:ext cx="0" cy="173736"/>
          </a:xfrm>
          <a:prstGeom prst="line">
            <a:avLst/>
          </a:prstGeom>
          <a:ln w="33655">
            <a:solidFill>
              <a:srgbClr val="2763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272784" y="5463540"/>
            <a:ext cx="1133856" cy="0"/>
          </a:xfrm>
          <a:prstGeom prst="line">
            <a:avLst/>
          </a:prstGeom>
          <a:ln w="33020">
            <a:solidFill>
              <a:srgbClr val="2763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925312" y="3172968"/>
            <a:ext cx="2194560" cy="0"/>
          </a:xfrm>
          <a:prstGeom prst="line">
            <a:avLst/>
          </a:prstGeom>
          <a:ln w="32384">
            <a:solidFill>
              <a:srgbClr val="C744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119872" y="3172968"/>
            <a:ext cx="0" cy="2057400"/>
          </a:xfrm>
          <a:prstGeom prst="line">
            <a:avLst/>
          </a:prstGeom>
          <a:ln w="32384">
            <a:solidFill>
              <a:srgbClr val="C744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135624" y="2898648"/>
            <a:ext cx="1737360" cy="2103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30" b="1">
                <a:solidFill>
                  <a:srgbClr val="C7443E"/>
                </a:solidFill>
                <a:latin typeface="Aptos"/>
              </a:rPr>
              <a:t>NO / ERROR — skip CPL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833104" y="5463540"/>
            <a:ext cx="301752" cy="0"/>
          </a:xfrm>
          <a:prstGeom prst="line">
            <a:avLst/>
          </a:prstGeom>
          <a:ln w="33655">
            <a:solidFill>
              <a:srgbClr val="008E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140696" y="5463540"/>
            <a:ext cx="292608" cy="0"/>
          </a:xfrm>
          <a:prstGeom prst="line">
            <a:avLst/>
          </a:prstGeom>
          <a:ln w="33655">
            <a:solidFill>
              <a:srgbClr val="1C8D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0213848" y="5074920"/>
            <a:ext cx="429768" cy="2103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00" b="1">
                <a:solidFill>
                  <a:srgbClr val="1C8D66"/>
                </a:solidFill>
                <a:latin typeface="Aptos"/>
              </a:rPr>
              <a:t>YES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637776" y="5806440"/>
            <a:ext cx="0" cy="192024"/>
          </a:xfrm>
          <a:prstGeom prst="line">
            <a:avLst/>
          </a:prstGeom>
          <a:ln w="25400">
            <a:solidFill>
              <a:srgbClr val="C744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9802368" y="5916168"/>
            <a:ext cx="1920240" cy="2103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10" b="1">
                <a:solidFill>
                  <a:srgbClr val="C7443E"/>
                </a:solidFill>
                <a:latin typeface="Aptos"/>
              </a:rPr>
              <a:t>NO → skip cancellation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" y="5961888"/>
            <a:ext cx="8119872" cy="347472"/>
          </a:xfrm>
          <a:prstGeom prst="roundRect">
            <a:avLst/>
          </a:prstGeom>
          <a:solidFill>
            <a:srgbClr val="FFF8F1"/>
          </a:solidFill>
          <a:ln w="12700">
            <a:solidFill>
              <a:srgbClr val="FCE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8" y="6025896"/>
            <a:ext cx="7772400" cy="19202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050" b="1">
                <a:solidFill>
                  <a:srgbClr val="1D2B3B"/>
                </a:solidFill>
                <a:latin typeface="Aptos"/>
              </a:rPr>
              <a:t>The two purchase outcomes converge at Sale_BNS; only BNS cancellation depends on Sale_BNS success.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0624" y="6464808"/>
            <a:ext cx="3200400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00" b="0">
                <a:solidFill>
                  <a:srgbClr val="647384"/>
                </a:solidFill>
                <a:latin typeface="Aptos"/>
              </a:rPr>
              <a:t>EIKO  /  HANDOVER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PART 1 / PERFORMANCE RECAP 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Purpose, inputs, and outputs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109960" y="109728"/>
            <a:ext cx="658368" cy="457200"/>
          </a:xfrm>
          <a:prstGeom prst="roundRect">
            <a:avLst/>
          </a:prstGeom>
          <a:solidFill>
            <a:srgbClr val="28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707D"/>
                </a:solidFill>
                <a:latin typeface="Aptos"/>
              </a:rPr>
              <a:t>EIKO / HANDOVER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005840"/>
            <a:ext cx="33832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005840"/>
            <a:ext cx="3383280" cy="73152"/>
          </a:xfrm>
          <a:prstGeom prst="rect">
            <a:avLst/>
          </a:prstGeom>
          <a:solidFill>
            <a:srgbClr val="28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115568"/>
            <a:ext cx="30540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2B37"/>
                </a:solidFill>
                <a:latin typeface="Aptos"/>
              </a:rPr>
              <a:t>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444752"/>
            <a:ext cx="3054096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232B37"/>
                </a:solidFill>
                <a:latin typeface="Aptos"/>
              </a:rPr>
              <a:t>This tool automatically generates performance dashboards from JMeter results.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32B37"/>
                </a:solidFill>
                <a:latin typeface="Aptos"/>
              </a:rPr>
              <a:t>It produces both an Excel file and a Word report.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32B37"/>
                </a:solidFill>
                <a:latin typeface="Aptos"/>
              </a:rPr>
              <a:t>Results are extracted from CSV scenario files, metrics are calculated, and the output is structured automatically.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005840"/>
            <a:ext cx="32461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005840"/>
            <a:ext cx="3246120" cy="73152"/>
          </a:xfrm>
          <a:prstGeom prst="rect">
            <a:avLst/>
          </a:prstGeom>
          <a:solidFill>
            <a:srgbClr val="00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115568"/>
            <a:ext cx="2916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2B37"/>
                </a:solidFill>
                <a:latin typeface="Aptos"/>
              </a:rPr>
              <a:t>Inputs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444752"/>
            <a:ext cx="2916936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232B37"/>
                </a:solidFill>
                <a:latin typeface="Aptos"/>
              </a:rPr>
              <a:t>IDP API-results-X-user.csv files generated by JMeter in RESULTS_FOLDER.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32B37"/>
                </a:solidFill>
                <a:latin typeface="Aptos"/>
              </a:rPr>
              <a:t>perf_template.docx placed in the DOC_TEMPLATE folder.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00584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1005840"/>
            <a:ext cx="3474720" cy="73152"/>
          </a:xfrm>
          <a:prstGeom prst="rect">
            <a:avLst/>
          </a:prstGeom>
          <a:solidFill>
            <a:srgbClr val="E88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5592" y="1115568"/>
            <a:ext cx="31455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2B37"/>
                </a:solidFill>
                <a:latin typeface="Aptos"/>
              </a:rPr>
              <a:t>Generated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2" y="1444752"/>
            <a:ext cx="3145536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232B37"/>
                </a:solidFill>
                <a:latin typeface="Aptos"/>
              </a:rPr>
              <a:t>recap_scenarios.xlsx → aggregated metrics + scenario sheets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32B37"/>
                </a:solidFill>
                <a:latin typeface="Aptos"/>
              </a:rPr>
              <a:t>perf_result_output.docx → Word summary with execution dates and formatted tables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657600"/>
            <a:ext cx="2194560" cy="868680"/>
          </a:xfrm>
          <a:prstGeom prst="roundRect">
            <a:avLst/>
          </a:prstGeom>
          <a:solidFill>
            <a:srgbClr val="EDF8F8"/>
          </a:solidFill>
          <a:ln>
            <a:solidFill>
              <a:srgbClr val="008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32B37"/>
                </a:solidFill>
                <a:latin typeface="Aptos"/>
              </a:rPr>
              <a:t>JMeter CSV results
+ Word template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657600"/>
            <a:ext cx="2148840" cy="868680"/>
          </a:xfrm>
          <a:prstGeom prst="roundRect">
            <a:avLst/>
          </a:prstGeom>
          <a:solidFill>
            <a:srgbClr val="EBF4FF"/>
          </a:solidFill>
          <a:ln>
            <a:solidFill>
              <a:srgbClr val="286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32B37"/>
                </a:solidFill>
                <a:latin typeface="Aptos"/>
              </a:rPr>
              <a:t>Performance Recap
Generator
python main.py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3337560"/>
            <a:ext cx="2057400" cy="658368"/>
          </a:xfrm>
          <a:prstGeom prst="roundRect">
            <a:avLst/>
          </a:prstGeom>
          <a:solidFill>
            <a:srgbClr val="F5F8FC"/>
          </a:solidFill>
          <a:ln>
            <a:solidFill>
              <a:srgbClr val="E88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32B37"/>
                </a:solidFill>
                <a:latin typeface="Aptos"/>
              </a:rPr>
              <a:t>recap_scenarios.xlsx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4206240"/>
            <a:ext cx="2057400" cy="658368"/>
          </a:xfrm>
          <a:prstGeom prst="roundRect">
            <a:avLst/>
          </a:prstGeom>
          <a:solidFill>
            <a:srgbClr val="F5F8FC"/>
          </a:solidFill>
          <a:ln>
            <a:solidFill>
              <a:srgbClr val="E88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32B37"/>
                </a:solidFill>
                <a:latin typeface="Aptos"/>
              </a:rPr>
              <a:t>perf_result_output.docx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66960" y="3337560"/>
            <a:ext cx="17830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008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32B37"/>
                </a:solidFill>
                <a:latin typeface="Aptos"/>
              </a:rPr>
              <a:t>SharePoint
recap file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66960" y="4206240"/>
            <a:ext cx="17830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008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32B37"/>
                </a:solidFill>
                <a:latin typeface="Aptos"/>
              </a:rPr>
              <a:t>Confluence
reporting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108960" y="4087368"/>
            <a:ext cx="1024127" cy="0"/>
          </a:xfrm>
          <a:prstGeom prst="line">
            <a:avLst/>
          </a:prstGeom>
          <a:ln w="28575">
            <a:solidFill>
              <a:srgbClr val="66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309360" y="3675887"/>
            <a:ext cx="978408" cy="411481"/>
          </a:xfrm>
          <a:prstGeom prst="bentConnector3">
            <a:avLst/>
          </a:prstGeom>
          <a:ln w="28575">
            <a:solidFill>
              <a:srgbClr val="66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309360" y="4087368"/>
            <a:ext cx="978408" cy="457200"/>
          </a:xfrm>
          <a:prstGeom prst="bentConnector3">
            <a:avLst/>
          </a:prstGeom>
          <a:ln w="28575">
            <a:solidFill>
              <a:srgbClr val="66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372600" y="3666744"/>
            <a:ext cx="566928" cy="0"/>
          </a:xfrm>
          <a:prstGeom prst="line">
            <a:avLst/>
          </a:prstGeom>
          <a:ln w="28575">
            <a:solidFill>
              <a:srgbClr val="66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372600" y="4535424"/>
            <a:ext cx="566928" cy="0"/>
          </a:xfrm>
          <a:prstGeom prst="line">
            <a:avLst/>
          </a:prstGeom>
          <a:ln w="28575">
            <a:solidFill>
              <a:srgbClr val="66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68680" y="5212080"/>
            <a:ext cx="10607040" cy="868680"/>
          </a:xfrm>
          <a:prstGeom prst="roundRect">
            <a:avLst/>
          </a:prstGeom>
          <a:solidFill>
            <a:srgbClr val="F5F8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60120" y="5303520"/>
            <a:ext cx="10424160" cy="384048"/>
          </a:xfrm>
          <a:prstGeom prst="roundRect">
            <a:avLst/>
          </a:prstGeom>
          <a:solidFill>
            <a:srgbClr val="28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Sources available in Confluence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" y="5806440"/>
            <a:ext cx="10277856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232B37"/>
                </a:solidFill>
                <a:latin typeface="Aptos"/>
              </a:rPr>
              <a:t>• User guide page + attached sources: perfrecapgenerator.zip and perf_template.docx.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PART 1 / PERFORMANCE RECAP 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Requirements, configuration, and execution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109960" y="109728"/>
            <a:ext cx="658368" cy="457200"/>
          </a:xfrm>
          <a:prstGeom prst="roundRect">
            <a:avLst/>
          </a:prstGeom>
          <a:solidFill>
            <a:srgbClr val="28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707D"/>
                </a:solidFill>
                <a:latin typeface="Aptos"/>
              </a:rPr>
              <a:t>EIKO / HANDOVER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005840"/>
            <a:ext cx="3200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005840"/>
            <a:ext cx="3200400" cy="73152"/>
          </a:xfrm>
          <a:prstGeom prst="rect">
            <a:avLst/>
          </a:prstGeom>
          <a:solidFill>
            <a:srgbClr val="00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115568"/>
            <a:ext cx="28712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2B37"/>
                </a:solidFill>
                <a:latin typeface="Aptos"/>
              </a:rPr>
              <a:t>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444752"/>
            <a:ext cx="287121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232B37"/>
                </a:solidFill>
                <a:latin typeface="Aptos"/>
              </a:rPr>
              <a:t>Python 3.10+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32B37"/>
                </a:solidFill>
                <a:latin typeface="Aptos"/>
              </a:rPr>
              <a:t>Dependencies: xlsxwriter, python-dotenv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063240"/>
            <a:ext cx="3200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063240"/>
            <a:ext cx="3200400" cy="73152"/>
          </a:xfrm>
          <a:prstGeom prst="rect">
            <a:avLst/>
          </a:prstGeom>
          <a:solidFill>
            <a:srgbClr val="28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172968"/>
            <a:ext cx="28712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2B37"/>
                </a:solidFill>
                <a:latin typeface="Aptos"/>
              </a:rPr>
              <a:t>Run command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3502152"/>
            <a:ext cx="287121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232B37"/>
                </a:solidFill>
                <a:latin typeface="Aptos"/>
              </a:rPr>
              <a:t>Once the environment is ready, launch: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32B37"/>
                </a:solidFill>
                <a:latin typeface="Aptos"/>
              </a:rPr>
              <a:t>python main.py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1005840"/>
            <a:ext cx="3749039" cy="3886200"/>
          </a:xfrm>
          <a:prstGeom prst="roundRect">
            <a:avLst/>
          </a:prstGeom>
          <a:solidFill>
            <a:srgbClr val="F8FA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143000"/>
            <a:ext cx="3383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33C"/>
                </a:solidFill>
                <a:latin typeface="Aptos"/>
              </a:rPr>
              <a:t>.env configuration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1554480"/>
            <a:ext cx="3246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232B37"/>
                </a:solidFill>
                <a:latin typeface="Courier New"/>
              </a:rPr>
              <a:t>RESULTS_FOLDER=&lt;directory containing JMeter CSVs&gt;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232B37"/>
                </a:solidFill>
                <a:latin typeface="Courier New"/>
              </a:rPr>
              <a:t>OUTPUT_FILE=&lt;output excel path&gt;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232B37"/>
                </a:solidFill>
                <a:latin typeface="Courier New"/>
              </a:rPr>
              <a:t>DOC_TEMPLATE=&lt;path to template docx&gt;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232B37"/>
                </a:solidFill>
                <a:latin typeface="Courier New"/>
              </a:rPr>
              <a:t>DOC_OUTPUT=&lt;generated docx output&gt;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005840"/>
            <a:ext cx="3108960" cy="1965960"/>
          </a:xfrm>
          <a:prstGeom prst="roundRect">
            <a:avLst/>
          </a:prstGeom>
          <a:solidFill>
            <a:srgbClr val="F5F8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21040" y="1097280"/>
            <a:ext cx="2926080" cy="384048"/>
          </a:xfrm>
          <a:prstGeom prst="roundRect">
            <a:avLst/>
          </a:prstGeom>
          <a:solidFill>
            <a:srgbClr val="E88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Excel output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1600200"/>
            <a:ext cx="2779776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20">
                <a:solidFill>
                  <a:srgbClr val="232B37"/>
                </a:solidFill>
                <a:latin typeface="Aptos"/>
              </a:rPr>
              <a:t>• Global sheet: Data Time Response Time → average response time per API per load.</a:t>
            </a:r>
          </a:p>
          <a:p>
            <a:pPr>
              <a:spcAft>
                <a:spcPts val="600"/>
              </a:spcAft>
            </a:pPr>
            <a:r>
              <a:rPr sz="1220">
                <a:solidFill>
                  <a:srgbClr val="232B37"/>
                </a:solidFill>
                <a:latin typeface="Aptos"/>
              </a:rPr>
              <a:t>• Global sheet: Data Error Rate → formatted error rate.</a:t>
            </a:r>
          </a:p>
          <a:p>
            <a:pPr>
              <a:spcAft>
                <a:spcPts val="600"/>
              </a:spcAft>
            </a:pPr>
            <a:r>
              <a:rPr sz="1220">
                <a:solidFill>
                  <a:srgbClr val="232B37"/>
                </a:solidFill>
                <a:latin typeface="Aptos"/>
              </a:rPr>
              <a:t>• One sheet per scenario with Samples, Avg, Min, Max, StdDev, Throughput, KB/Sec, etc.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246120"/>
            <a:ext cx="3108960" cy="1645920"/>
          </a:xfrm>
          <a:prstGeom prst="roundRect">
            <a:avLst/>
          </a:prstGeom>
          <a:solidFill>
            <a:srgbClr val="F5F8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0" y="3337560"/>
            <a:ext cx="2926080" cy="384048"/>
          </a:xfrm>
          <a:prstGeom prst="roundRect">
            <a:avLst/>
          </a:prstGeom>
          <a:solidFill>
            <a:srgbClr val="00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Word output logic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3840480"/>
            <a:ext cx="27797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32B37"/>
                </a:solidFill>
                <a:latin typeface="Aptos"/>
              </a:rPr>
              <a:t>• The Word file uses placeholders injected into the provided template.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32B37"/>
                </a:solidFill>
                <a:latin typeface="Aptos"/>
              </a:rPr>
              <a:t>• Main examples: EXEC_DATE, SALE_MIN, RT_TABLE, RT_AVERAGE_ALL, CHECK_SLA_ALL, RT_AVERAGE_PDF, CHECK_SLA_PDF.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PART 1 / PERFORMANCE RECAP 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Reference material available in Confluence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109960" y="109728"/>
            <a:ext cx="658368" cy="457200"/>
          </a:xfrm>
          <a:prstGeom prst="roundRect">
            <a:avLst/>
          </a:prstGeom>
          <a:solidFill>
            <a:srgbClr val="28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707D"/>
                </a:solidFill>
                <a:latin typeface="Aptos"/>
              </a:rPr>
              <a:t>EIKO / HANDOVER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8E8E"/>
                </a:solidFill>
                <a:latin typeface="Aptos"/>
              </a:rPr>
              <a:t>The screenshots below summarize the documentation currently available on Confluence.</a:t>
            </a:r>
          </a:p>
        </p:txBody>
      </p:sp>
      <p:pic>
        <p:nvPicPr>
          <p:cNvPr id="9" name="Picture 8" descr="8fc5dc1f-b3d2-5aca-aba6-30ac30d2f8e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280" y="1325880"/>
            <a:ext cx="4226560" cy="2377440"/>
          </a:xfrm>
          <a:prstGeom prst="rect">
            <a:avLst/>
          </a:prstGeom>
        </p:spPr>
      </p:pic>
      <p:pic>
        <p:nvPicPr>
          <p:cNvPr id="10" name="Picture 9" descr="2cdf4418-50d8-5ce2-8310-d9c2eaf5f4c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400" y="3840480"/>
            <a:ext cx="3576320" cy="20116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17920" y="1325880"/>
            <a:ext cx="5166360" cy="1920240"/>
          </a:xfrm>
          <a:prstGeom prst="roundRect">
            <a:avLst/>
          </a:prstGeom>
          <a:solidFill>
            <a:srgbClr val="F5F8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1417320"/>
            <a:ext cx="4983480" cy="384048"/>
          </a:xfrm>
          <a:prstGeom prst="roundRect">
            <a:avLst/>
          </a:prstGeom>
          <a:solidFill>
            <a:srgbClr val="28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What the documentation confirms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920240"/>
            <a:ext cx="483717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232B37"/>
                </a:solidFill>
                <a:latin typeface="Aptos"/>
              </a:rPr>
              <a:t>• The guide explains the purpose of the tool and the expected input files.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32B37"/>
                </a:solidFill>
                <a:latin typeface="Aptos"/>
              </a:rPr>
              <a:t>• It documents the generated Excel and Word outputs.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32B37"/>
                </a:solidFill>
                <a:latin typeface="Aptos"/>
              </a:rPr>
              <a:t>• It provides setup instructions and the launch command.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520440"/>
            <a:ext cx="5166360" cy="2286000"/>
          </a:xfrm>
          <a:prstGeom prst="roundRect">
            <a:avLst/>
          </a:prstGeom>
          <a:solidFill>
            <a:srgbClr val="F5F8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3611880"/>
            <a:ext cx="4983480" cy="384048"/>
          </a:xfrm>
          <a:prstGeom prst="roundRect">
            <a:avLst/>
          </a:prstGeom>
          <a:solidFill>
            <a:srgbClr val="E88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Attachments / artifacts to keep track of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114800"/>
            <a:ext cx="4837176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232B37"/>
                </a:solidFill>
                <a:latin typeface="Aptos"/>
              </a:rPr>
              <a:t>• perfrecapgenerator.zip → source code bundle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32B37"/>
                </a:solidFill>
                <a:latin typeface="Aptos"/>
              </a:rPr>
              <a:t>• perf_template.docx → Word template used by the generator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32B37"/>
                </a:solidFill>
                <a:latin typeface="Aptos"/>
              </a:rPr>
              <a:t>• Confluence user guide → main operating reference for the tool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914400"/>
            <a:ext cx="10789920" cy="4983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17320"/>
            <a:ext cx="1188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860AA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4028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33C"/>
                </a:solidFill>
                <a:latin typeface="Aptos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07792"/>
            <a:ext cx="9692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32B37"/>
                </a:solidFill>
                <a:latin typeface="Aptos"/>
              </a:rPr>
              <a:t>Claims FPV2 reference architecture &amp; flow follow-up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069080"/>
            <a:ext cx="4206240" cy="91440"/>
          </a:xfrm>
          <a:prstGeom prst="rect">
            <a:avLst/>
          </a:prstGeom>
          <a:solidFill>
            <a:srgbClr val="00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3891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6707D"/>
                </a:solidFill>
                <a:latin typeface="Aptos"/>
              </a:rPr>
              <a:t>Clear, concise, and ready to hand over.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55664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707D"/>
                </a:solidFill>
                <a:latin typeface="Aptos"/>
              </a:rPr>
              <a:t>EIKO / HANDOVER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PART 2 / REFERENCE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Claims FPV2 flow reference diagram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109960" y="109728"/>
            <a:ext cx="658368" cy="457200"/>
          </a:xfrm>
          <a:prstGeom prst="roundRect">
            <a:avLst/>
          </a:prstGeom>
          <a:solidFill>
            <a:srgbClr val="28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707D"/>
                </a:solidFill>
                <a:latin typeface="Aptos"/>
              </a:rPr>
              <a:t>EIKO / HANDOVER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96112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E88D31"/>
                </a:solidFill>
                <a:latin typeface="Aptos"/>
              </a:rPr>
              <a:t>Temporary placeholder version — to be replaced later with a clearer source image.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234440"/>
            <a:ext cx="11292840" cy="5349240"/>
          </a:xfrm>
          <a:prstGeom prst="roundRect">
            <a:avLst/>
          </a:prstGeom>
          <a:solidFill>
            <a:srgbClr val="FCFC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bc764c8-9112-5e37-8441-44ddb1c752d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580" y="1325880"/>
            <a:ext cx="918464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PART 2 / FOLLOW-UP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How to use the Claims FPV2 material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109960" y="109728"/>
            <a:ext cx="658368" cy="457200"/>
          </a:xfrm>
          <a:prstGeom prst="roundRect">
            <a:avLst/>
          </a:prstGeom>
          <a:solidFill>
            <a:srgbClr val="28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707D"/>
                </a:solidFill>
                <a:latin typeface="Aptos"/>
              </a:rPr>
              <a:t>EIKO / HANDOVER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43000"/>
            <a:ext cx="3520440" cy="2971800"/>
          </a:xfrm>
          <a:prstGeom prst="roundRect">
            <a:avLst/>
          </a:prstGeom>
          <a:solidFill>
            <a:srgbClr val="F5F8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234440"/>
            <a:ext cx="3337560" cy="384048"/>
          </a:xfrm>
          <a:prstGeom prst="roundRect">
            <a:avLst/>
          </a:prstGeom>
          <a:solidFill>
            <a:srgbClr val="286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Reference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737360"/>
            <a:ext cx="3191256" cy="2221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80">
                <a:solidFill>
                  <a:srgbClr val="232B37"/>
                </a:solidFill>
                <a:latin typeface="Aptos"/>
              </a:rPr>
              <a:t>• Use the full-size diagram slide as the visual reference.</a:t>
            </a:r>
          </a:p>
          <a:p>
            <a:pPr>
              <a:spcAft>
                <a:spcPts val="600"/>
              </a:spcAft>
            </a:pPr>
            <a:r>
              <a:rPr sz="1280">
                <a:solidFill>
                  <a:srgbClr val="232B37"/>
                </a:solidFill>
                <a:latin typeface="Aptos"/>
              </a:rPr>
              <a:t>• The current image is a temporary placeholder and should be replaced when a clearer export is available.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143000"/>
            <a:ext cx="3520440" cy="2971800"/>
          </a:xfrm>
          <a:prstGeom prst="roundRect">
            <a:avLst/>
          </a:prstGeom>
          <a:solidFill>
            <a:srgbClr val="F5F8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1234440"/>
            <a:ext cx="3337560" cy="384048"/>
          </a:xfrm>
          <a:prstGeom prst="roundRect">
            <a:avLst/>
          </a:prstGeom>
          <a:solidFill>
            <a:srgbClr val="00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Operational matrix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1737360"/>
            <a:ext cx="3191256" cy="2221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80">
                <a:solidFill>
                  <a:srgbClr val="232B37"/>
                </a:solidFill>
                <a:latin typeface="Aptos"/>
              </a:rPr>
              <a:t>• The diagram alone is not enough to know the real opening status of the flows.</a:t>
            </a:r>
          </a:p>
          <a:p>
            <a:pPr>
              <a:spcAft>
                <a:spcPts val="600"/>
              </a:spcAft>
            </a:pPr>
            <a:r>
              <a:rPr sz="1280">
                <a:solidFill>
                  <a:srgbClr val="232B37"/>
                </a:solidFill>
                <a:latin typeface="Aptos"/>
              </a:rPr>
              <a:t>• Keep the operational matrix as the source of truth for opened / in-progress / pending flows, tickets, and owners.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143000"/>
            <a:ext cx="3520440" cy="2971800"/>
          </a:xfrm>
          <a:prstGeom prst="roundRect">
            <a:avLst/>
          </a:prstGeom>
          <a:solidFill>
            <a:srgbClr val="F5F8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19" y="1234440"/>
            <a:ext cx="3337560" cy="384048"/>
          </a:xfrm>
          <a:prstGeom prst="roundRect">
            <a:avLst/>
          </a:prstGeom>
          <a:solidFill>
            <a:srgbClr val="E88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Handover 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9871" y="1737360"/>
            <a:ext cx="3191256" cy="2221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80">
                <a:solidFill>
                  <a:srgbClr val="232B37"/>
                </a:solidFill>
                <a:latin typeface="Aptos"/>
              </a:rPr>
              <a:t>• Add the final link to the operational matrix.</a:t>
            </a:r>
          </a:p>
          <a:p>
            <a:pPr>
              <a:spcAft>
                <a:spcPts val="600"/>
              </a:spcAft>
            </a:pPr>
            <a:r>
              <a:rPr sz="1280">
                <a:solidFill>
                  <a:srgbClr val="232B37"/>
                </a:solidFill>
                <a:latin typeface="Aptos"/>
              </a:rPr>
              <a:t>• Replace the placeholder diagram with the updated image that you will provide later.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80560"/>
            <a:ext cx="10744200" cy="1005840"/>
          </a:xfrm>
          <a:prstGeom prst="roundRect">
            <a:avLst/>
          </a:prstGeom>
          <a:solidFill>
            <a:srgbClr val="F5F8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4572000"/>
            <a:ext cx="10561320" cy="384048"/>
          </a:xfrm>
          <a:prstGeom prst="roundRect">
            <a:avLst/>
          </a:prstGeom>
          <a:solidFill>
            <a:srgbClr val="0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Overall handover message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5074920"/>
            <a:ext cx="10415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232B37"/>
                </a:solidFill>
                <a:latin typeface="Aptos"/>
              </a:rPr>
              <a:t>• Part 1 explains how the JMeter campaign is executed and how test results are transformed into reporting deliverables. Part 2 provides the visual and operational references for Claims FPV2 follow-up.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